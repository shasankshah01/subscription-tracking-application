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oppins Semi-Bold" charset="1" panose="00000700000000000000"/>
      <p:regular r:id="rId15"/>
    </p:embeddedFont>
    <p:embeddedFont>
      <p:font typeface="Open Sans Bold" charset="1" panose="00000000000000000000"/>
      <p:regular r:id="rId16"/>
    </p:embeddedFont>
    <p:embeddedFont>
      <p:font typeface="Open Sans" charset="1" panose="00000000000000000000"/>
      <p:regular r:id="rId17"/>
    </p:embeddedFont>
    <p:embeddedFont>
      <p:font typeface="Canva Sans Bold" charset="1" panose="020B0803030501040103"/>
      <p:regular r:id="rId18"/>
    </p:embeddedFont>
    <p:embeddedFont>
      <p:font typeface="Canva Sans" charset="1" panose="020B05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257501" y="8066575"/>
            <a:ext cx="0" cy="867546"/>
          </a:xfrm>
          <a:prstGeom prst="line">
            <a:avLst/>
          </a:prstGeom>
          <a:ln cap="rnd" w="57150">
            <a:solidFill>
              <a:srgbClr val="60A5FA"/>
            </a:solidFill>
            <a:prstDash val="solid"/>
            <a:headEnd type="none" len="sm" w="sm"/>
            <a:tailEnd type="none" len="sm" w="sm"/>
          </a:ln>
        </p:spPr>
      </p:sp>
      <p:grpSp>
        <p:nvGrpSpPr>
          <p:cNvPr name="Group 7" id="7"/>
          <p:cNvGrpSpPr/>
          <p:nvPr/>
        </p:nvGrpSpPr>
        <p:grpSpPr>
          <a:xfrm rot="0">
            <a:off x="10191726" y="1580598"/>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10319354" y="-4277500"/>
            <a:ext cx="7116554" cy="711655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10191726" y="6977077"/>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1028700" y="3159969"/>
            <a:ext cx="6088491" cy="3770632"/>
          </a:xfrm>
          <a:prstGeom prst="rect">
            <a:avLst/>
          </a:prstGeom>
        </p:spPr>
        <p:txBody>
          <a:bodyPr anchor="t" rtlCol="false" tIns="0" lIns="0" bIns="0" rIns="0">
            <a:spAutoFit/>
          </a:bodyPr>
          <a:lstStyle/>
          <a:p>
            <a:pPr algn="just">
              <a:lnSpc>
                <a:spcPts val="9830"/>
              </a:lnSpc>
            </a:pPr>
            <a:r>
              <a:rPr lang="en-US" sz="7021" b="true">
                <a:solidFill>
                  <a:srgbClr val="1E293B"/>
                </a:solidFill>
                <a:latin typeface="Poppins Semi-Bold"/>
                <a:ea typeface="Poppins Semi-Bold"/>
                <a:cs typeface="Poppins Semi-Bold"/>
                <a:sym typeface="Poppins Semi-Bold"/>
              </a:rPr>
              <a:t>Subscription Tracking Application </a:t>
            </a:r>
          </a:p>
        </p:txBody>
      </p:sp>
      <p:sp>
        <p:nvSpPr>
          <p:cNvPr name="TextBox 17" id="17"/>
          <p:cNvSpPr txBox="true"/>
          <p:nvPr/>
        </p:nvSpPr>
        <p:spPr>
          <a:xfrm rot="0">
            <a:off x="2255701" y="1080396"/>
            <a:ext cx="5598194"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Subscription Tracking</a:t>
            </a:r>
            <a:r>
              <a:rPr lang="en-US" b="true" sz="2499">
                <a:solidFill>
                  <a:srgbClr val="1E293B"/>
                </a:solidFill>
                <a:latin typeface="Open Sans Bold"/>
                <a:ea typeface="Open Sans Bold"/>
                <a:cs typeface="Open Sans Bold"/>
                <a:sym typeface="Open Sans Bold"/>
              </a:rPr>
              <a:t> Application </a:t>
            </a:r>
          </a:p>
        </p:txBody>
      </p:sp>
      <p:sp>
        <p:nvSpPr>
          <p:cNvPr name="TextBox 18" id="18"/>
          <p:cNvSpPr txBox="true"/>
          <p:nvPr/>
        </p:nvSpPr>
        <p:spPr>
          <a:xfrm rot="0">
            <a:off x="1624608" y="8018950"/>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Presented by:</a:t>
            </a:r>
          </a:p>
        </p:txBody>
      </p:sp>
      <p:sp>
        <p:nvSpPr>
          <p:cNvPr name="TextBox 19" id="19"/>
          <p:cNvSpPr txBox="true"/>
          <p:nvPr/>
        </p:nvSpPr>
        <p:spPr>
          <a:xfrm rot="0">
            <a:off x="1624608" y="8511884"/>
            <a:ext cx="3976232" cy="422275"/>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Puneet Solanki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5970204"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Subscription Tracking</a:t>
            </a:r>
            <a:r>
              <a:rPr lang="en-US" b="true" sz="2499">
                <a:solidFill>
                  <a:srgbClr val="1E293B"/>
                </a:solidFill>
                <a:latin typeface="Open Sans Bold"/>
                <a:ea typeface="Open Sans Bold"/>
                <a:cs typeface="Open Sans Bold"/>
                <a:sym typeface="Open Sans Bold"/>
              </a:rPr>
              <a:t> Application </a:t>
            </a:r>
          </a:p>
        </p:txBody>
      </p:sp>
      <p:sp>
        <p:nvSpPr>
          <p:cNvPr name="TextBox 7" id="7"/>
          <p:cNvSpPr txBox="true"/>
          <p:nvPr/>
        </p:nvSpPr>
        <p:spPr>
          <a:xfrm rot="0">
            <a:off x="1028700" y="2352663"/>
            <a:ext cx="8567762" cy="1404648"/>
          </a:xfrm>
          <a:prstGeom prst="rect">
            <a:avLst/>
          </a:prstGeom>
        </p:spPr>
        <p:txBody>
          <a:bodyPr anchor="t" rtlCol="false" tIns="0" lIns="0" bIns="0" rIns="0">
            <a:spAutoFit/>
          </a:bodyPr>
          <a:lstStyle/>
          <a:p>
            <a:pPr algn="l">
              <a:lnSpc>
                <a:spcPts val="9808"/>
              </a:lnSpc>
            </a:pPr>
            <a:r>
              <a:rPr lang="en-US" sz="10008" b="true">
                <a:solidFill>
                  <a:srgbClr val="1E293B"/>
                </a:solidFill>
                <a:latin typeface="Poppins Semi-Bold"/>
                <a:ea typeface="Poppins Semi-Bold"/>
                <a:cs typeface="Poppins Semi-Bold"/>
                <a:sym typeface="Poppins Semi-Bold"/>
              </a:rPr>
              <a:t> Introduction</a:t>
            </a:r>
          </a:p>
        </p:txBody>
      </p:sp>
      <p:sp>
        <p:nvSpPr>
          <p:cNvPr name="TextBox 8" id="8"/>
          <p:cNvSpPr txBox="true"/>
          <p:nvPr/>
        </p:nvSpPr>
        <p:spPr>
          <a:xfrm rot="0">
            <a:off x="1452204" y="5411846"/>
            <a:ext cx="7662838" cy="3489325"/>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The Subscription Tracking Applicati</a:t>
            </a:r>
            <a:r>
              <a:rPr lang="en-US" sz="2499">
                <a:solidFill>
                  <a:srgbClr val="1E293B"/>
                </a:solidFill>
                <a:latin typeface="Open Sans"/>
                <a:ea typeface="Open Sans"/>
                <a:cs typeface="Open Sans"/>
                <a:sym typeface="Open Sans"/>
              </a:rPr>
              <a:t>on is a web-based system designed to help users manage all of their subscriptions in one place. Many people subscribe to services such as Netflix, Spotify, JioHotstar, cloud storage, gyms, and software platforms. Over time, it becomes difficult to remember renewal dates and total expenses, resulting in unnecessary payments.</a:t>
            </a:r>
          </a:p>
        </p:txBody>
      </p:sp>
      <p:sp>
        <p:nvSpPr>
          <p:cNvPr name="TextBox 9" id="9"/>
          <p:cNvSpPr txBox="true"/>
          <p:nvPr/>
        </p:nvSpPr>
        <p:spPr>
          <a:xfrm rot="0">
            <a:off x="10577537" y="2295525"/>
            <a:ext cx="7662838" cy="6994525"/>
          </a:xfrm>
          <a:prstGeom prst="rect">
            <a:avLst/>
          </a:prstGeom>
        </p:spPr>
        <p:txBody>
          <a:bodyPr anchor="t" rtlCol="false" tIns="0" lIns="0" bIns="0" rIns="0">
            <a:spAutoFit/>
          </a:bodyPr>
          <a:lstStyle/>
          <a:p>
            <a:pPr algn="l">
              <a:lnSpc>
                <a:spcPts val="3499"/>
              </a:lnSpc>
            </a:pPr>
            <a:r>
              <a:rPr lang="en-US" sz="2499" b="true">
                <a:solidFill>
                  <a:srgbClr val="1E293B"/>
                </a:solidFill>
                <a:latin typeface="Open Sans Bold"/>
                <a:ea typeface="Open Sans Bold"/>
                <a:cs typeface="Open Sans Bold"/>
                <a:sym typeface="Open Sans Bold"/>
              </a:rPr>
              <a:t>Objectives</a:t>
            </a:r>
          </a:p>
          <a:p>
            <a:pPr algn="l" marL="539749" indent="-269875" lvl="1">
              <a:lnSpc>
                <a:spcPts val="3499"/>
              </a:lnSpc>
              <a:buFont typeface="Arial"/>
              <a:buChar char="•"/>
            </a:pPr>
            <a:r>
              <a:rPr lang="en-US" sz="2499">
                <a:solidFill>
                  <a:srgbClr val="1E293B"/>
                </a:solidFill>
                <a:latin typeface="Open Sans"/>
                <a:ea typeface="Open Sans"/>
                <a:cs typeface="Open Sans"/>
                <a:sym typeface="Open Sans"/>
              </a:rPr>
              <a:t>Track all subscriptions in one application.</a:t>
            </a:r>
          </a:p>
          <a:p>
            <a:pPr algn="l" marL="539749" indent="-269875" lvl="1">
              <a:lnSpc>
                <a:spcPts val="3499"/>
              </a:lnSpc>
              <a:buFont typeface="Arial"/>
              <a:buChar char="•"/>
            </a:pPr>
            <a:r>
              <a:rPr lang="en-US" sz="2499">
                <a:solidFill>
                  <a:srgbClr val="1E293B"/>
                </a:solidFill>
                <a:latin typeface="Open Sans"/>
                <a:ea typeface="Open Sans"/>
                <a:cs typeface="Open Sans"/>
                <a:sym typeface="Open Sans"/>
              </a:rPr>
              <a:t>D</a:t>
            </a:r>
            <a:r>
              <a:rPr lang="en-US" sz="2499">
                <a:solidFill>
                  <a:srgbClr val="1E293B"/>
                </a:solidFill>
                <a:latin typeface="Open Sans"/>
                <a:ea typeface="Open Sans"/>
                <a:cs typeface="Open Sans"/>
                <a:sym typeface="Open Sans"/>
              </a:rPr>
              <a:t>isplay monthly and yearly subscription expenses.</a:t>
            </a:r>
          </a:p>
          <a:p>
            <a:pPr algn="l" marL="539749" indent="-269875" lvl="1">
              <a:lnSpc>
                <a:spcPts val="3499"/>
              </a:lnSpc>
              <a:buFont typeface="Arial"/>
              <a:buChar char="•"/>
            </a:pPr>
            <a:r>
              <a:rPr lang="en-US" sz="2499">
                <a:solidFill>
                  <a:srgbClr val="1E293B"/>
                </a:solidFill>
                <a:latin typeface="Open Sans"/>
                <a:ea typeface="Open Sans"/>
                <a:cs typeface="Open Sans"/>
                <a:sym typeface="Open Sans"/>
              </a:rPr>
              <a:t>Notify users about upcoming renewals.</a:t>
            </a:r>
          </a:p>
          <a:p>
            <a:pPr algn="l" marL="539749" indent="-269875" lvl="1">
              <a:lnSpc>
                <a:spcPts val="3499"/>
              </a:lnSpc>
              <a:buFont typeface="Arial"/>
              <a:buChar char="•"/>
            </a:pPr>
            <a:r>
              <a:rPr lang="en-US" sz="2499">
                <a:solidFill>
                  <a:srgbClr val="1E293B"/>
                </a:solidFill>
                <a:latin typeface="Open Sans"/>
                <a:ea typeface="Open Sans"/>
                <a:cs typeface="Open Sans"/>
                <a:sym typeface="Open Sans"/>
              </a:rPr>
              <a:t>Help users save money through better expense management.</a:t>
            </a:r>
          </a:p>
          <a:p>
            <a:pPr algn="l">
              <a:lnSpc>
                <a:spcPts val="3499"/>
              </a:lnSpc>
            </a:pPr>
          </a:p>
          <a:p>
            <a:pPr algn="l">
              <a:lnSpc>
                <a:spcPts val="3499"/>
              </a:lnSpc>
            </a:pPr>
            <a:r>
              <a:rPr lang="en-US" b="true" sz="2499">
                <a:solidFill>
                  <a:srgbClr val="1E293B"/>
                </a:solidFill>
                <a:latin typeface="Open Sans Bold"/>
                <a:ea typeface="Open Sans Bold"/>
                <a:cs typeface="Open Sans Bold"/>
                <a:sym typeface="Open Sans Bold"/>
              </a:rPr>
              <a:t>Main Features</a:t>
            </a:r>
          </a:p>
          <a:p>
            <a:pPr algn="l" marL="539749" indent="-269875" lvl="1">
              <a:lnSpc>
                <a:spcPts val="3499"/>
              </a:lnSpc>
              <a:buFont typeface="Arial"/>
              <a:buChar char="•"/>
            </a:pPr>
            <a:r>
              <a:rPr lang="en-US" sz="2499">
                <a:solidFill>
                  <a:srgbClr val="1E293B"/>
                </a:solidFill>
                <a:latin typeface="Open Sans"/>
                <a:ea typeface="Open Sans"/>
                <a:cs typeface="Open Sans"/>
                <a:sym typeface="Open Sans"/>
              </a:rPr>
              <a:t>User Registration and Login</a:t>
            </a:r>
          </a:p>
          <a:p>
            <a:pPr algn="l" marL="539749" indent="-269875" lvl="1">
              <a:lnSpc>
                <a:spcPts val="3499"/>
              </a:lnSpc>
              <a:buFont typeface="Arial"/>
              <a:buChar char="•"/>
            </a:pPr>
            <a:r>
              <a:rPr lang="en-US" sz="2499">
                <a:solidFill>
                  <a:srgbClr val="1E293B"/>
                </a:solidFill>
                <a:latin typeface="Open Sans"/>
                <a:ea typeface="Open Sans"/>
                <a:cs typeface="Open Sans"/>
                <a:sym typeface="Open Sans"/>
              </a:rPr>
              <a:t>Subscription CRUD (Create, Read, Update, Delete)</a:t>
            </a:r>
          </a:p>
          <a:p>
            <a:pPr algn="l" marL="539749" indent="-269875" lvl="1">
              <a:lnSpc>
                <a:spcPts val="3499"/>
              </a:lnSpc>
              <a:buFont typeface="Arial"/>
              <a:buChar char="•"/>
            </a:pPr>
            <a:r>
              <a:rPr lang="en-US" sz="2499">
                <a:solidFill>
                  <a:srgbClr val="1E293B"/>
                </a:solidFill>
                <a:latin typeface="Open Sans"/>
                <a:ea typeface="Open Sans"/>
                <a:cs typeface="Open Sans"/>
                <a:sym typeface="Open Sans"/>
              </a:rPr>
              <a:t>Dashboard Analytics</a:t>
            </a:r>
          </a:p>
          <a:p>
            <a:pPr algn="l" marL="539749" indent="-269875" lvl="1">
              <a:lnSpc>
                <a:spcPts val="3499"/>
              </a:lnSpc>
              <a:buFont typeface="Arial"/>
              <a:buChar char="•"/>
            </a:pPr>
            <a:r>
              <a:rPr lang="en-US" sz="2499">
                <a:solidFill>
                  <a:srgbClr val="1E293B"/>
                </a:solidFill>
                <a:latin typeface="Open Sans"/>
                <a:ea typeface="Open Sans"/>
                <a:cs typeface="Open Sans"/>
                <a:sym typeface="Open Sans"/>
              </a:rPr>
              <a:t>Renewal Tracking</a:t>
            </a:r>
          </a:p>
          <a:p>
            <a:pPr algn="l" marL="539749" indent="-269875" lvl="1">
              <a:lnSpc>
                <a:spcPts val="3499"/>
              </a:lnSpc>
              <a:buFont typeface="Arial"/>
              <a:buChar char="•"/>
            </a:pPr>
            <a:r>
              <a:rPr lang="en-US" sz="2499">
                <a:solidFill>
                  <a:srgbClr val="1E293B"/>
                </a:solidFill>
                <a:latin typeface="Open Sans"/>
                <a:ea typeface="Open Sans"/>
                <a:cs typeface="Open Sans"/>
                <a:sym typeface="Open Sans"/>
              </a:rPr>
              <a:t>Secure Data Storage</a:t>
            </a:r>
          </a:p>
          <a:p>
            <a:pPr algn="l">
              <a:lnSpc>
                <a:spcPts val="349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6877908"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Subscription Tracking</a:t>
            </a:r>
            <a:r>
              <a:rPr lang="en-US" b="true" sz="2499">
                <a:solidFill>
                  <a:srgbClr val="1E293B"/>
                </a:solidFill>
                <a:latin typeface="Open Sans Bold"/>
                <a:ea typeface="Open Sans Bold"/>
                <a:cs typeface="Open Sans Bold"/>
                <a:sym typeface="Open Sans Bold"/>
              </a:rPr>
              <a:t> Application </a:t>
            </a:r>
          </a:p>
        </p:txBody>
      </p:sp>
      <p:sp>
        <p:nvSpPr>
          <p:cNvPr name="TextBox 7" id="7"/>
          <p:cNvSpPr txBox="true"/>
          <p:nvPr/>
        </p:nvSpPr>
        <p:spPr>
          <a:xfrm rot="0">
            <a:off x="831912" y="2141011"/>
            <a:ext cx="13094312"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 Organization Profile</a:t>
            </a:r>
          </a:p>
        </p:txBody>
      </p:sp>
      <p:sp>
        <p:nvSpPr>
          <p:cNvPr name="TextBox 8" id="8"/>
          <p:cNvSpPr txBox="true"/>
          <p:nvPr/>
        </p:nvSpPr>
        <p:spPr>
          <a:xfrm rot="0">
            <a:off x="1875708" y="3783921"/>
            <a:ext cx="7413649" cy="6164275"/>
          </a:xfrm>
          <a:prstGeom prst="rect">
            <a:avLst/>
          </a:prstGeom>
        </p:spPr>
        <p:txBody>
          <a:bodyPr anchor="t" rtlCol="false" tIns="0" lIns="0" bIns="0" rIns="0">
            <a:spAutoFit/>
          </a:bodyPr>
          <a:lstStyle/>
          <a:p>
            <a:pPr algn="l">
              <a:lnSpc>
                <a:spcPts val="3086"/>
              </a:lnSpc>
            </a:pPr>
            <a:r>
              <a:rPr lang="en-US" sz="2204" b="true">
                <a:solidFill>
                  <a:srgbClr val="1E293B"/>
                </a:solidFill>
                <a:latin typeface="Open Sans Bold"/>
                <a:ea typeface="Open Sans Bold"/>
                <a:cs typeface="Open Sans Bold"/>
                <a:sym typeface="Open Sans Bold"/>
              </a:rPr>
              <a:t>Project Name: </a:t>
            </a:r>
            <a:r>
              <a:rPr lang="en-US" sz="2204">
                <a:solidFill>
                  <a:srgbClr val="1E293B"/>
                </a:solidFill>
                <a:latin typeface="Open Sans"/>
                <a:ea typeface="Open Sans"/>
                <a:cs typeface="Open Sans"/>
                <a:sym typeface="Open Sans"/>
              </a:rPr>
              <a:t>Subscription Tracking Applicati</a:t>
            </a:r>
            <a:r>
              <a:rPr lang="en-US" sz="2204">
                <a:solidFill>
                  <a:srgbClr val="1E293B"/>
                </a:solidFill>
                <a:latin typeface="Open Sans"/>
                <a:ea typeface="Open Sans"/>
                <a:cs typeface="Open Sans"/>
                <a:sym typeface="Open Sans"/>
              </a:rPr>
              <a:t>on</a:t>
            </a:r>
          </a:p>
          <a:p>
            <a:pPr algn="l">
              <a:lnSpc>
                <a:spcPts val="3086"/>
              </a:lnSpc>
            </a:pPr>
            <a:r>
              <a:rPr lang="en-US" b="true" sz="2204">
                <a:solidFill>
                  <a:srgbClr val="1E293B"/>
                </a:solidFill>
                <a:latin typeface="Open Sans Bold"/>
                <a:ea typeface="Open Sans Bold"/>
                <a:cs typeface="Open Sans Bold"/>
                <a:sym typeface="Open Sans Bold"/>
              </a:rPr>
              <a:t>Project Type: </a:t>
            </a:r>
            <a:r>
              <a:rPr lang="en-US" sz="2204">
                <a:solidFill>
                  <a:srgbClr val="1E293B"/>
                </a:solidFill>
                <a:latin typeface="Open Sans"/>
                <a:ea typeface="Open Sans"/>
                <a:cs typeface="Open Sans"/>
                <a:sym typeface="Open Sans"/>
              </a:rPr>
              <a:t>Web Application</a:t>
            </a:r>
          </a:p>
          <a:p>
            <a:pPr algn="l">
              <a:lnSpc>
                <a:spcPts val="3086"/>
              </a:lnSpc>
            </a:pPr>
            <a:r>
              <a:rPr lang="en-US" b="true" sz="2204">
                <a:solidFill>
                  <a:srgbClr val="1E293B"/>
                </a:solidFill>
                <a:latin typeface="Open Sans Bold"/>
                <a:ea typeface="Open Sans Bold"/>
                <a:cs typeface="Open Sans Bold"/>
                <a:sym typeface="Open Sans Bold"/>
              </a:rPr>
              <a:t>Developed By:</a:t>
            </a:r>
            <a:r>
              <a:rPr lang="en-US" sz="2204">
                <a:solidFill>
                  <a:srgbClr val="1E293B"/>
                </a:solidFill>
                <a:latin typeface="Open Sans"/>
                <a:ea typeface="Open Sans"/>
                <a:cs typeface="Open Sans"/>
                <a:sym typeface="Open Sans"/>
              </a:rPr>
              <a:t> Puneet Solanki (MCA Mini Project)</a:t>
            </a:r>
          </a:p>
          <a:p>
            <a:pPr algn="l">
              <a:lnSpc>
                <a:spcPts val="3086"/>
              </a:lnSpc>
            </a:pPr>
          </a:p>
          <a:p>
            <a:pPr algn="l">
              <a:lnSpc>
                <a:spcPts val="3086"/>
              </a:lnSpc>
            </a:pPr>
            <a:r>
              <a:rPr lang="en-US" b="true" sz="2204">
                <a:solidFill>
                  <a:srgbClr val="1E293B"/>
                </a:solidFill>
                <a:latin typeface="Open Sans Bold"/>
                <a:ea typeface="Open Sans Bold"/>
                <a:cs typeface="Open Sans Bold"/>
                <a:sym typeface="Open Sans Bold"/>
              </a:rPr>
              <a:t>Technology Stack</a:t>
            </a:r>
          </a:p>
          <a:p>
            <a:pPr algn="l" marL="475982" indent="-237991" lvl="1">
              <a:lnSpc>
                <a:spcPts val="3086"/>
              </a:lnSpc>
              <a:buFont typeface="Arial"/>
              <a:buChar char="•"/>
            </a:pPr>
            <a:r>
              <a:rPr lang="en-US" sz="2204">
                <a:solidFill>
                  <a:srgbClr val="1E293B"/>
                </a:solidFill>
                <a:latin typeface="Open Sans"/>
                <a:ea typeface="Open Sans"/>
                <a:cs typeface="Open Sans"/>
                <a:sym typeface="Open Sans"/>
              </a:rPr>
              <a:t>Frontend: HTML, CSS, Bootstrap, JSP</a:t>
            </a:r>
          </a:p>
          <a:p>
            <a:pPr algn="l" marL="475982" indent="-237991" lvl="1">
              <a:lnSpc>
                <a:spcPts val="3086"/>
              </a:lnSpc>
              <a:buFont typeface="Arial"/>
              <a:buChar char="•"/>
            </a:pPr>
            <a:r>
              <a:rPr lang="en-US" sz="2204">
                <a:solidFill>
                  <a:srgbClr val="1E293B"/>
                </a:solidFill>
                <a:latin typeface="Open Sans"/>
                <a:ea typeface="Open Sans"/>
                <a:cs typeface="Open Sans"/>
                <a:sym typeface="Open Sans"/>
              </a:rPr>
              <a:t>Backend: Java Servlets</a:t>
            </a:r>
          </a:p>
          <a:p>
            <a:pPr algn="l" marL="475982" indent="-237991" lvl="1">
              <a:lnSpc>
                <a:spcPts val="3086"/>
              </a:lnSpc>
              <a:buFont typeface="Arial"/>
              <a:buChar char="•"/>
            </a:pPr>
            <a:r>
              <a:rPr lang="en-US" sz="2204">
                <a:solidFill>
                  <a:srgbClr val="1E293B"/>
                </a:solidFill>
                <a:latin typeface="Open Sans"/>
                <a:ea typeface="Open Sans"/>
                <a:cs typeface="Open Sans"/>
                <a:sym typeface="Open Sans"/>
              </a:rPr>
              <a:t>Database: MySQL</a:t>
            </a:r>
          </a:p>
          <a:p>
            <a:pPr algn="l" marL="475982" indent="-237991" lvl="1">
              <a:lnSpc>
                <a:spcPts val="3086"/>
              </a:lnSpc>
              <a:buFont typeface="Arial"/>
              <a:buChar char="•"/>
            </a:pPr>
            <a:r>
              <a:rPr lang="en-US" sz="2204">
                <a:solidFill>
                  <a:srgbClr val="1E293B"/>
                </a:solidFill>
                <a:latin typeface="Open Sans"/>
                <a:ea typeface="Open Sans"/>
                <a:cs typeface="Open Sans"/>
                <a:sym typeface="Open Sans"/>
              </a:rPr>
              <a:t>Server: Apache Tomcat</a:t>
            </a:r>
          </a:p>
          <a:p>
            <a:pPr algn="l" marL="475982" indent="-237991" lvl="1">
              <a:lnSpc>
                <a:spcPts val="3086"/>
              </a:lnSpc>
              <a:buFont typeface="Arial"/>
              <a:buChar char="•"/>
            </a:pPr>
          </a:p>
          <a:p>
            <a:pPr algn="l">
              <a:lnSpc>
                <a:spcPts val="3086"/>
              </a:lnSpc>
            </a:pPr>
            <a:r>
              <a:rPr lang="en-US" b="true" sz="2204">
                <a:solidFill>
                  <a:srgbClr val="1E293B"/>
                </a:solidFill>
                <a:latin typeface="Open Sans Bold"/>
                <a:ea typeface="Open Sans Bold"/>
                <a:cs typeface="Open Sans Bold"/>
                <a:sym typeface="Open Sans Bold"/>
              </a:rPr>
              <a:t>Target Users</a:t>
            </a:r>
          </a:p>
          <a:p>
            <a:pPr algn="l" marL="475982" indent="-237991" lvl="1">
              <a:lnSpc>
                <a:spcPts val="3086"/>
              </a:lnSpc>
              <a:buFont typeface="Arial"/>
              <a:buChar char="•"/>
            </a:pPr>
            <a:r>
              <a:rPr lang="en-US" sz="2204">
                <a:solidFill>
                  <a:srgbClr val="1E293B"/>
                </a:solidFill>
                <a:latin typeface="Open Sans"/>
                <a:ea typeface="Open Sans"/>
                <a:cs typeface="Open Sans"/>
                <a:sym typeface="Open Sans"/>
              </a:rPr>
              <a:t>Students</a:t>
            </a:r>
          </a:p>
          <a:p>
            <a:pPr algn="l" marL="475982" indent="-237991" lvl="1">
              <a:lnSpc>
                <a:spcPts val="3086"/>
              </a:lnSpc>
              <a:buFont typeface="Arial"/>
              <a:buChar char="•"/>
            </a:pPr>
            <a:r>
              <a:rPr lang="en-US" sz="2204">
                <a:solidFill>
                  <a:srgbClr val="1E293B"/>
                </a:solidFill>
                <a:latin typeface="Open Sans"/>
                <a:ea typeface="Open Sans"/>
                <a:cs typeface="Open Sans"/>
                <a:sym typeface="Open Sans"/>
              </a:rPr>
              <a:t>Working professionals</a:t>
            </a:r>
          </a:p>
          <a:p>
            <a:pPr algn="l" marL="475982" indent="-237991" lvl="1">
              <a:lnSpc>
                <a:spcPts val="3086"/>
              </a:lnSpc>
              <a:buFont typeface="Arial"/>
              <a:buChar char="•"/>
            </a:pPr>
            <a:r>
              <a:rPr lang="en-US" sz="2204">
                <a:solidFill>
                  <a:srgbClr val="1E293B"/>
                </a:solidFill>
                <a:latin typeface="Open Sans"/>
                <a:ea typeface="Open Sans"/>
                <a:cs typeface="Open Sans"/>
                <a:sym typeface="Open Sans"/>
              </a:rPr>
              <a:t>Families</a:t>
            </a:r>
          </a:p>
          <a:p>
            <a:pPr algn="l" marL="475982" indent="-237991" lvl="1">
              <a:lnSpc>
                <a:spcPts val="3086"/>
              </a:lnSpc>
              <a:buFont typeface="Arial"/>
              <a:buChar char="•"/>
            </a:pPr>
            <a:r>
              <a:rPr lang="en-US" sz="2204">
                <a:solidFill>
                  <a:srgbClr val="1E293B"/>
                </a:solidFill>
                <a:latin typeface="Open Sans"/>
                <a:ea typeface="Open Sans"/>
                <a:cs typeface="Open Sans"/>
                <a:sym typeface="Open Sans"/>
              </a:rPr>
              <a:t>Small businesses</a:t>
            </a:r>
          </a:p>
          <a:p>
            <a:pPr algn="l">
              <a:lnSpc>
                <a:spcPts val="3086"/>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166419" y="1080377"/>
            <a:ext cx="6694854"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Subscription Tracking</a:t>
            </a:r>
            <a:r>
              <a:rPr lang="en-US" b="true" sz="2499">
                <a:solidFill>
                  <a:srgbClr val="1E293B"/>
                </a:solidFill>
                <a:latin typeface="Open Sans Bold"/>
                <a:ea typeface="Open Sans Bold"/>
                <a:cs typeface="Open Sans Bold"/>
                <a:sym typeface="Open Sans Bold"/>
              </a:rPr>
              <a:t> Application </a:t>
            </a:r>
          </a:p>
        </p:txBody>
      </p:sp>
      <p:sp>
        <p:nvSpPr>
          <p:cNvPr name="TextBox 7" id="7"/>
          <p:cNvSpPr txBox="true"/>
          <p:nvPr/>
        </p:nvSpPr>
        <p:spPr>
          <a:xfrm rot="0">
            <a:off x="1028700" y="2226019"/>
            <a:ext cx="8466511"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Existing System</a:t>
            </a:r>
          </a:p>
        </p:txBody>
      </p:sp>
      <p:sp>
        <p:nvSpPr>
          <p:cNvPr name="TextBox 8" id="8"/>
          <p:cNvSpPr txBox="true"/>
          <p:nvPr/>
        </p:nvSpPr>
        <p:spPr>
          <a:xfrm rot="0">
            <a:off x="1452204" y="3316315"/>
            <a:ext cx="6977012" cy="6762186"/>
          </a:xfrm>
          <a:prstGeom prst="rect">
            <a:avLst/>
          </a:prstGeom>
        </p:spPr>
        <p:txBody>
          <a:bodyPr anchor="t" rtlCol="false" tIns="0" lIns="0" bIns="0" rIns="0">
            <a:spAutoFit/>
          </a:bodyPr>
          <a:lstStyle/>
          <a:p>
            <a:pPr algn="l">
              <a:lnSpc>
                <a:spcPts val="3186"/>
              </a:lnSpc>
            </a:pPr>
            <a:r>
              <a:rPr lang="en-US" sz="2276">
                <a:solidFill>
                  <a:srgbClr val="1E293B"/>
                </a:solidFill>
                <a:latin typeface="Open Sans"/>
                <a:ea typeface="Open Sans"/>
                <a:cs typeface="Open Sans"/>
                <a:sym typeface="Open Sans"/>
              </a:rPr>
              <a:t>At present, there is no single platform where</a:t>
            </a:r>
            <a:r>
              <a:rPr lang="en-US" sz="2276">
                <a:solidFill>
                  <a:srgbClr val="1E293B"/>
                </a:solidFill>
                <a:latin typeface="Open Sans"/>
                <a:ea typeface="Open Sans"/>
                <a:cs typeface="Open Sans"/>
                <a:sym typeface="Open Sans"/>
              </a:rPr>
              <a:t> users can manage all their subscriptions.</a:t>
            </a:r>
          </a:p>
          <a:p>
            <a:pPr algn="l">
              <a:lnSpc>
                <a:spcPts val="3186"/>
              </a:lnSpc>
            </a:pPr>
          </a:p>
          <a:p>
            <a:pPr algn="l">
              <a:lnSpc>
                <a:spcPts val="3186"/>
              </a:lnSpc>
            </a:pPr>
            <a:r>
              <a:rPr lang="en-US" b="true" sz="2276">
                <a:solidFill>
                  <a:srgbClr val="1E293B"/>
                </a:solidFill>
                <a:latin typeface="Open Sans Bold"/>
                <a:ea typeface="Open Sans Bold"/>
                <a:cs typeface="Open Sans Bold"/>
                <a:sym typeface="Open Sans Bold"/>
              </a:rPr>
              <a:t>People generally use:</a:t>
            </a:r>
          </a:p>
          <a:p>
            <a:pPr algn="l" marL="491442" indent="-245721" lvl="1">
              <a:lnSpc>
                <a:spcPts val="3186"/>
              </a:lnSpc>
              <a:buFont typeface="Arial"/>
              <a:buChar char="•"/>
            </a:pPr>
            <a:r>
              <a:rPr lang="en-US" sz="2276">
                <a:solidFill>
                  <a:srgbClr val="1E293B"/>
                </a:solidFill>
                <a:latin typeface="Open Sans"/>
                <a:ea typeface="Open Sans"/>
                <a:cs typeface="Open Sans"/>
                <a:sym typeface="Open Sans"/>
              </a:rPr>
              <a:t>Mobile reminders</a:t>
            </a:r>
          </a:p>
          <a:p>
            <a:pPr algn="l" marL="491442" indent="-245721" lvl="1">
              <a:lnSpc>
                <a:spcPts val="3186"/>
              </a:lnSpc>
              <a:buFont typeface="Arial"/>
              <a:buChar char="•"/>
            </a:pPr>
            <a:r>
              <a:rPr lang="en-US" sz="2276">
                <a:solidFill>
                  <a:srgbClr val="1E293B"/>
                </a:solidFill>
                <a:latin typeface="Open Sans"/>
                <a:ea typeface="Open Sans"/>
                <a:cs typeface="Open Sans"/>
                <a:sym typeface="Open Sans"/>
              </a:rPr>
              <a:t>Calendar applications</a:t>
            </a:r>
          </a:p>
          <a:p>
            <a:pPr algn="l" marL="491442" indent="-245721" lvl="1">
              <a:lnSpc>
                <a:spcPts val="3186"/>
              </a:lnSpc>
              <a:buFont typeface="Arial"/>
              <a:buChar char="•"/>
            </a:pPr>
            <a:r>
              <a:rPr lang="en-US" sz="2276">
                <a:solidFill>
                  <a:srgbClr val="1E293B"/>
                </a:solidFill>
                <a:latin typeface="Open Sans"/>
                <a:ea typeface="Open Sans"/>
                <a:cs typeface="Open Sans"/>
                <a:sym typeface="Open Sans"/>
              </a:rPr>
              <a:t>Paper notes</a:t>
            </a:r>
          </a:p>
          <a:p>
            <a:pPr algn="l" marL="491442" indent="-245721" lvl="1">
              <a:lnSpc>
                <a:spcPts val="3186"/>
              </a:lnSpc>
              <a:buFont typeface="Arial"/>
              <a:buChar char="•"/>
            </a:pPr>
            <a:r>
              <a:rPr lang="en-US" sz="2276">
                <a:solidFill>
                  <a:srgbClr val="1E293B"/>
                </a:solidFill>
                <a:latin typeface="Open Sans"/>
                <a:ea typeface="Open Sans"/>
                <a:cs typeface="Open Sans"/>
                <a:sym typeface="Open Sans"/>
              </a:rPr>
              <a:t>Excel spreadsheets</a:t>
            </a:r>
          </a:p>
          <a:p>
            <a:pPr algn="l" marL="491442" indent="-245721" lvl="1">
              <a:lnSpc>
                <a:spcPts val="3186"/>
              </a:lnSpc>
              <a:buFont typeface="Arial"/>
              <a:buChar char="•"/>
            </a:pPr>
            <a:r>
              <a:rPr lang="en-US" sz="2276">
                <a:solidFill>
                  <a:srgbClr val="1E293B"/>
                </a:solidFill>
                <a:latin typeface="Open Sans"/>
                <a:ea typeface="Open Sans"/>
                <a:cs typeface="Open Sans"/>
                <a:sym typeface="Open Sans"/>
              </a:rPr>
              <a:t>Memory</a:t>
            </a:r>
          </a:p>
          <a:p>
            <a:pPr algn="l" marL="491442" indent="-245721" lvl="1">
              <a:lnSpc>
                <a:spcPts val="3186"/>
              </a:lnSpc>
              <a:buFont typeface="Arial"/>
              <a:buChar char="•"/>
            </a:pPr>
          </a:p>
          <a:p>
            <a:pPr algn="l">
              <a:lnSpc>
                <a:spcPts val="3186"/>
              </a:lnSpc>
            </a:pPr>
            <a:r>
              <a:rPr lang="en-US" b="true" sz="2276">
                <a:solidFill>
                  <a:srgbClr val="1E293B"/>
                </a:solidFill>
                <a:latin typeface="Open Sans Bold"/>
                <a:ea typeface="Open Sans Bold"/>
                <a:cs typeface="Open Sans Bold"/>
                <a:sym typeface="Open Sans Bold"/>
              </a:rPr>
              <a:t>Disadvantages</a:t>
            </a:r>
          </a:p>
          <a:p>
            <a:pPr algn="l" marL="491442" indent="-245721" lvl="1">
              <a:lnSpc>
                <a:spcPts val="3186"/>
              </a:lnSpc>
              <a:buFont typeface="Arial"/>
              <a:buChar char="•"/>
            </a:pPr>
            <a:r>
              <a:rPr lang="en-US" sz="2276">
                <a:solidFill>
                  <a:srgbClr val="1E293B"/>
                </a:solidFill>
                <a:latin typeface="Open Sans"/>
                <a:ea typeface="Open Sans"/>
                <a:cs typeface="Open Sans"/>
                <a:sym typeface="Open Sans"/>
              </a:rPr>
              <a:t>Information is scattered.</a:t>
            </a:r>
          </a:p>
          <a:p>
            <a:pPr algn="l" marL="491442" indent="-245721" lvl="1">
              <a:lnSpc>
                <a:spcPts val="3186"/>
              </a:lnSpc>
              <a:buFont typeface="Arial"/>
              <a:buChar char="•"/>
            </a:pPr>
            <a:r>
              <a:rPr lang="en-US" sz="2276">
                <a:solidFill>
                  <a:srgbClr val="1E293B"/>
                </a:solidFill>
                <a:latin typeface="Open Sans"/>
                <a:ea typeface="Open Sans"/>
                <a:cs typeface="Open Sans"/>
                <a:sym typeface="Open Sans"/>
              </a:rPr>
              <a:t>Users forget renewal dates.</a:t>
            </a:r>
          </a:p>
          <a:p>
            <a:pPr algn="l" marL="491442" indent="-245721" lvl="1">
              <a:lnSpc>
                <a:spcPts val="3186"/>
              </a:lnSpc>
              <a:buFont typeface="Arial"/>
              <a:buChar char="•"/>
            </a:pPr>
            <a:r>
              <a:rPr lang="en-US" sz="2276">
                <a:solidFill>
                  <a:srgbClr val="1E293B"/>
                </a:solidFill>
                <a:latin typeface="Open Sans"/>
                <a:ea typeface="Open Sans"/>
                <a:cs typeface="Open Sans"/>
                <a:sym typeface="Open Sans"/>
              </a:rPr>
              <a:t>Difficult to calculate expenses.</a:t>
            </a:r>
          </a:p>
          <a:p>
            <a:pPr algn="l" marL="491442" indent="-245721" lvl="1">
              <a:lnSpc>
                <a:spcPts val="3186"/>
              </a:lnSpc>
              <a:buFont typeface="Arial"/>
              <a:buChar char="•"/>
            </a:pPr>
            <a:r>
              <a:rPr lang="en-US" sz="2276">
                <a:solidFill>
                  <a:srgbClr val="1E293B"/>
                </a:solidFill>
                <a:latin typeface="Open Sans"/>
                <a:ea typeface="Open Sans"/>
                <a:cs typeface="Open Sans"/>
                <a:sym typeface="Open Sans"/>
              </a:rPr>
              <a:t>No analytics or reports.</a:t>
            </a:r>
          </a:p>
          <a:p>
            <a:pPr algn="l" marL="491442" indent="-245721" lvl="1">
              <a:lnSpc>
                <a:spcPts val="3186"/>
              </a:lnSpc>
              <a:buFont typeface="Arial"/>
              <a:buChar char="•"/>
            </a:pPr>
            <a:r>
              <a:rPr lang="en-US" sz="2276">
                <a:solidFill>
                  <a:srgbClr val="1E293B"/>
                </a:solidFill>
                <a:latin typeface="Open Sans"/>
                <a:ea typeface="Open Sans"/>
                <a:cs typeface="Open Sans"/>
                <a:sym typeface="Open Sans"/>
              </a:rPr>
              <a:t>No centralized dashboard.</a:t>
            </a:r>
          </a:p>
          <a:p>
            <a:pPr algn="l">
              <a:lnSpc>
                <a:spcPts val="3186"/>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74751" y="1080396"/>
            <a:ext cx="6386855"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Subscription Tracking</a:t>
            </a:r>
            <a:r>
              <a:rPr lang="en-US" b="true" sz="2499">
                <a:solidFill>
                  <a:srgbClr val="1E293B"/>
                </a:solidFill>
                <a:latin typeface="Open Sans Bold"/>
                <a:ea typeface="Open Sans Bold"/>
                <a:cs typeface="Open Sans Bold"/>
                <a:sym typeface="Open Sans Bold"/>
              </a:rPr>
              <a:t> Application </a:t>
            </a:r>
          </a:p>
        </p:txBody>
      </p:sp>
      <p:sp>
        <p:nvSpPr>
          <p:cNvPr name="TextBox 7" id="7"/>
          <p:cNvSpPr txBox="true"/>
          <p:nvPr/>
        </p:nvSpPr>
        <p:spPr>
          <a:xfrm rot="0">
            <a:off x="1028700" y="2226019"/>
            <a:ext cx="17259300"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Problem Areas of Existing System</a:t>
            </a:r>
          </a:p>
        </p:txBody>
      </p:sp>
      <p:sp>
        <p:nvSpPr>
          <p:cNvPr name="TextBox 8" id="8"/>
          <p:cNvSpPr txBox="true"/>
          <p:nvPr/>
        </p:nvSpPr>
        <p:spPr>
          <a:xfrm rot="0">
            <a:off x="1734931" y="3933097"/>
            <a:ext cx="10545182" cy="6008873"/>
          </a:xfrm>
          <a:prstGeom prst="rect">
            <a:avLst/>
          </a:prstGeom>
        </p:spPr>
        <p:txBody>
          <a:bodyPr anchor="t" rtlCol="false" tIns="0" lIns="0" bIns="0" rIns="0">
            <a:spAutoFit/>
          </a:bodyPr>
          <a:lstStyle/>
          <a:p>
            <a:pPr algn="l">
              <a:lnSpc>
                <a:spcPts val="4816"/>
              </a:lnSpc>
            </a:pPr>
            <a:r>
              <a:rPr lang="en-US" sz="3440">
                <a:solidFill>
                  <a:srgbClr val="1E293B"/>
                </a:solidFill>
                <a:latin typeface="Open Sans"/>
                <a:ea typeface="Open Sans"/>
                <a:cs typeface="Open Sans"/>
                <a:sym typeface="Open Sans"/>
              </a:rPr>
              <a:t>The existing approach has several</a:t>
            </a:r>
            <a:r>
              <a:rPr lang="en-US" sz="3440">
                <a:solidFill>
                  <a:srgbClr val="1E293B"/>
                </a:solidFill>
                <a:latin typeface="Open Sans"/>
                <a:ea typeface="Open Sans"/>
                <a:cs typeface="Open Sans"/>
                <a:sym typeface="Open Sans"/>
              </a:rPr>
              <a:t> limitations.</a:t>
            </a:r>
          </a:p>
          <a:p>
            <a:pPr algn="l" marL="742774" indent="-371387" lvl="1">
              <a:lnSpc>
                <a:spcPts val="4816"/>
              </a:lnSpc>
              <a:buFont typeface="Arial"/>
              <a:buChar char="•"/>
            </a:pPr>
            <a:r>
              <a:rPr lang="en-US" sz="3440">
                <a:solidFill>
                  <a:srgbClr val="1E293B"/>
                </a:solidFill>
                <a:latin typeface="Open Sans"/>
                <a:ea typeface="Open Sans"/>
                <a:cs typeface="Open Sans"/>
                <a:sym typeface="Open Sans"/>
              </a:rPr>
              <a:t>Users forget renewal dates.</a:t>
            </a:r>
          </a:p>
          <a:p>
            <a:pPr algn="l" marL="742774" indent="-371387" lvl="1">
              <a:lnSpc>
                <a:spcPts val="4816"/>
              </a:lnSpc>
              <a:buFont typeface="Arial"/>
              <a:buChar char="•"/>
            </a:pPr>
            <a:r>
              <a:rPr lang="en-US" sz="3440">
                <a:solidFill>
                  <a:srgbClr val="1E293B"/>
                </a:solidFill>
                <a:latin typeface="Open Sans"/>
                <a:ea typeface="Open Sans"/>
                <a:cs typeface="Open Sans"/>
                <a:sym typeface="Open Sans"/>
              </a:rPr>
              <a:t>Money is wasted on unused subscriptions.</a:t>
            </a:r>
          </a:p>
          <a:p>
            <a:pPr algn="l" marL="742774" indent="-371387" lvl="1">
              <a:lnSpc>
                <a:spcPts val="4816"/>
              </a:lnSpc>
              <a:buFont typeface="Arial"/>
              <a:buChar char="•"/>
            </a:pPr>
            <a:r>
              <a:rPr lang="en-US" sz="3440">
                <a:solidFill>
                  <a:srgbClr val="1E293B"/>
                </a:solidFill>
                <a:latin typeface="Open Sans"/>
                <a:ea typeface="Open Sans"/>
                <a:cs typeface="Open Sans"/>
                <a:sym typeface="Open Sans"/>
              </a:rPr>
              <a:t>No automatic reminders.</a:t>
            </a:r>
          </a:p>
          <a:p>
            <a:pPr algn="l" marL="742774" indent="-371387" lvl="1">
              <a:lnSpc>
                <a:spcPts val="4816"/>
              </a:lnSpc>
              <a:buFont typeface="Arial"/>
              <a:buChar char="•"/>
            </a:pPr>
            <a:r>
              <a:rPr lang="en-US" sz="3440">
                <a:solidFill>
                  <a:srgbClr val="1E293B"/>
                </a:solidFill>
                <a:latin typeface="Open Sans"/>
                <a:ea typeface="Open Sans"/>
                <a:cs typeface="Open Sans"/>
                <a:sym typeface="Open Sans"/>
              </a:rPr>
              <a:t>No centralized management.</a:t>
            </a:r>
          </a:p>
          <a:p>
            <a:pPr algn="l" marL="742774" indent="-371387" lvl="1">
              <a:lnSpc>
                <a:spcPts val="4816"/>
              </a:lnSpc>
              <a:buFont typeface="Arial"/>
              <a:buChar char="•"/>
            </a:pPr>
            <a:r>
              <a:rPr lang="en-US" sz="3440">
                <a:solidFill>
                  <a:srgbClr val="1E293B"/>
                </a:solidFill>
                <a:latin typeface="Open Sans"/>
                <a:ea typeface="Open Sans"/>
                <a:cs typeface="Open Sans"/>
                <a:sym typeface="Open Sans"/>
              </a:rPr>
              <a:t>Expense calculation is manual.</a:t>
            </a:r>
          </a:p>
          <a:p>
            <a:pPr algn="l" marL="742774" indent="-371387" lvl="1">
              <a:lnSpc>
                <a:spcPts val="4816"/>
              </a:lnSpc>
              <a:buFont typeface="Arial"/>
              <a:buChar char="•"/>
            </a:pPr>
            <a:r>
              <a:rPr lang="en-US" sz="3440">
                <a:solidFill>
                  <a:srgbClr val="1E293B"/>
                </a:solidFill>
                <a:latin typeface="Open Sans"/>
                <a:ea typeface="Open Sans"/>
                <a:cs typeface="Open Sans"/>
                <a:sym typeface="Open Sans"/>
              </a:rPr>
              <a:t>Difficult to compare monthly and yearly spending.</a:t>
            </a:r>
          </a:p>
          <a:p>
            <a:pPr algn="l" marL="742774" indent="-371387" lvl="1">
              <a:lnSpc>
                <a:spcPts val="4816"/>
              </a:lnSpc>
              <a:buFont typeface="Arial"/>
              <a:buChar char="•"/>
            </a:pPr>
            <a:r>
              <a:rPr lang="en-US" sz="3440">
                <a:solidFill>
                  <a:srgbClr val="1E293B"/>
                </a:solidFill>
                <a:latin typeface="Open Sans"/>
                <a:ea typeface="Open Sans"/>
                <a:cs typeface="Open Sans"/>
                <a:sym typeface="Open Sans"/>
              </a:rPr>
              <a:t>No secure storage for subscription details.</a:t>
            </a:r>
          </a:p>
          <a:p>
            <a:pPr algn="l">
              <a:lnSpc>
                <a:spcPts val="4816"/>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6446376"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Subscription Tracking</a:t>
            </a:r>
            <a:r>
              <a:rPr lang="en-US" b="true" sz="2499">
                <a:solidFill>
                  <a:srgbClr val="1E293B"/>
                </a:solidFill>
                <a:latin typeface="Open Sans Bold"/>
                <a:ea typeface="Open Sans Bold"/>
                <a:cs typeface="Open Sans Bold"/>
                <a:sym typeface="Open Sans Bold"/>
              </a:rPr>
              <a:t> Application </a:t>
            </a:r>
          </a:p>
        </p:txBody>
      </p:sp>
      <p:sp>
        <p:nvSpPr>
          <p:cNvPr name="TextBox 7" id="7"/>
          <p:cNvSpPr txBox="true"/>
          <p:nvPr/>
        </p:nvSpPr>
        <p:spPr>
          <a:xfrm rot="0">
            <a:off x="1875708" y="2122164"/>
            <a:ext cx="13630007"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Need for the New System</a:t>
            </a:r>
          </a:p>
        </p:txBody>
      </p:sp>
      <p:sp>
        <p:nvSpPr>
          <p:cNvPr name="TextBox 8" id="8"/>
          <p:cNvSpPr txBox="true"/>
          <p:nvPr/>
        </p:nvSpPr>
        <p:spPr>
          <a:xfrm rot="0">
            <a:off x="2099710" y="3726810"/>
            <a:ext cx="9549683" cy="6054964"/>
          </a:xfrm>
          <a:prstGeom prst="rect">
            <a:avLst/>
          </a:prstGeom>
        </p:spPr>
        <p:txBody>
          <a:bodyPr anchor="t" rtlCol="false" tIns="0" lIns="0" bIns="0" rIns="0">
            <a:spAutoFit/>
          </a:bodyPr>
          <a:lstStyle/>
          <a:p>
            <a:pPr algn="l">
              <a:lnSpc>
                <a:spcPts val="4361"/>
              </a:lnSpc>
            </a:pPr>
            <a:r>
              <a:rPr lang="en-US" sz="3115" b="true">
                <a:solidFill>
                  <a:srgbClr val="1E293B"/>
                </a:solidFill>
                <a:latin typeface="Open Sans Bold"/>
                <a:ea typeface="Open Sans Bold"/>
                <a:cs typeface="Open Sans Bold"/>
                <a:sym typeface="Open Sans Bold"/>
              </a:rPr>
              <a:t>User Authenticat</a:t>
            </a:r>
            <a:r>
              <a:rPr lang="en-US" b="true" sz="3115">
                <a:solidFill>
                  <a:srgbClr val="1E293B"/>
                </a:solidFill>
                <a:latin typeface="Open Sans Bold"/>
                <a:ea typeface="Open Sans Bold"/>
                <a:cs typeface="Open Sans Bold"/>
                <a:sym typeface="Open Sans Bold"/>
              </a:rPr>
              <a:t>ion</a:t>
            </a:r>
          </a:p>
          <a:p>
            <a:pPr algn="l">
              <a:lnSpc>
                <a:spcPts val="4361"/>
              </a:lnSpc>
            </a:pPr>
            <a:r>
              <a:rPr lang="en-US" sz="3115">
                <a:solidFill>
                  <a:srgbClr val="1E293B"/>
                </a:solidFill>
                <a:latin typeface="Open Sans"/>
                <a:ea typeface="Open Sans"/>
                <a:cs typeface="Open Sans"/>
                <a:sym typeface="Open Sans"/>
              </a:rPr>
              <a:t>Only registered users can access their subscription information.</a:t>
            </a:r>
          </a:p>
          <a:p>
            <a:pPr algn="l">
              <a:lnSpc>
                <a:spcPts val="4361"/>
              </a:lnSpc>
            </a:pPr>
          </a:p>
          <a:p>
            <a:pPr algn="l">
              <a:lnSpc>
                <a:spcPts val="4361"/>
              </a:lnSpc>
            </a:pPr>
            <a:r>
              <a:rPr lang="en-US" b="true" sz="3115">
                <a:solidFill>
                  <a:srgbClr val="1E293B"/>
                </a:solidFill>
                <a:latin typeface="Open Sans Bold"/>
                <a:ea typeface="Open Sans Bold"/>
                <a:cs typeface="Open Sans Bold"/>
                <a:sym typeface="Open Sans Bold"/>
              </a:rPr>
              <a:t>Subscription Management</a:t>
            </a:r>
          </a:p>
          <a:p>
            <a:pPr algn="l">
              <a:lnSpc>
                <a:spcPts val="4361"/>
              </a:lnSpc>
            </a:pPr>
            <a:r>
              <a:rPr lang="en-US" b="true" sz="3115">
                <a:solidFill>
                  <a:srgbClr val="1E293B"/>
                </a:solidFill>
                <a:latin typeface="Open Sans Bold"/>
                <a:ea typeface="Open Sans Bold"/>
                <a:cs typeface="Open Sans Bold"/>
                <a:sym typeface="Open Sans Bold"/>
              </a:rPr>
              <a:t>   </a:t>
            </a:r>
            <a:r>
              <a:rPr lang="en-US" sz="3115">
                <a:solidFill>
                  <a:srgbClr val="1E293B"/>
                </a:solidFill>
                <a:latin typeface="Open Sans"/>
                <a:ea typeface="Open Sans"/>
                <a:cs typeface="Open Sans"/>
                <a:sym typeface="Open Sans"/>
              </a:rPr>
              <a:t>Users can:</a:t>
            </a:r>
          </a:p>
          <a:p>
            <a:pPr algn="l" marL="672654" indent="-336327" lvl="1">
              <a:lnSpc>
                <a:spcPts val="4361"/>
              </a:lnSpc>
              <a:buFont typeface="Arial"/>
              <a:buChar char="•"/>
            </a:pPr>
            <a:r>
              <a:rPr lang="en-US" sz="3115">
                <a:solidFill>
                  <a:srgbClr val="1E293B"/>
                </a:solidFill>
                <a:latin typeface="Open Sans"/>
                <a:ea typeface="Open Sans"/>
                <a:cs typeface="Open Sans"/>
                <a:sym typeface="Open Sans"/>
              </a:rPr>
              <a:t>Add subscriptions</a:t>
            </a:r>
          </a:p>
          <a:p>
            <a:pPr algn="l" marL="672654" indent="-336327" lvl="1">
              <a:lnSpc>
                <a:spcPts val="4361"/>
              </a:lnSpc>
              <a:buFont typeface="Arial"/>
              <a:buChar char="•"/>
            </a:pPr>
            <a:r>
              <a:rPr lang="en-US" sz="3115">
                <a:solidFill>
                  <a:srgbClr val="1E293B"/>
                </a:solidFill>
                <a:latin typeface="Open Sans"/>
                <a:ea typeface="Open Sans"/>
                <a:cs typeface="Open Sans"/>
                <a:sym typeface="Open Sans"/>
              </a:rPr>
              <a:t>Edit subscriptions</a:t>
            </a:r>
          </a:p>
          <a:p>
            <a:pPr algn="l" marL="672654" indent="-336327" lvl="1">
              <a:lnSpc>
                <a:spcPts val="4361"/>
              </a:lnSpc>
              <a:buFont typeface="Arial"/>
              <a:buChar char="•"/>
            </a:pPr>
            <a:r>
              <a:rPr lang="en-US" sz="3115">
                <a:solidFill>
                  <a:srgbClr val="1E293B"/>
                </a:solidFill>
                <a:latin typeface="Open Sans"/>
                <a:ea typeface="Open Sans"/>
                <a:cs typeface="Open Sans"/>
                <a:sym typeface="Open Sans"/>
              </a:rPr>
              <a:t>Delete subscriptions</a:t>
            </a:r>
          </a:p>
          <a:p>
            <a:pPr algn="l" marL="672654" indent="-336327" lvl="1">
              <a:lnSpc>
                <a:spcPts val="4361"/>
              </a:lnSpc>
              <a:buFont typeface="Arial"/>
              <a:buChar char="•"/>
            </a:pPr>
            <a:r>
              <a:rPr lang="en-US" sz="3115">
                <a:solidFill>
                  <a:srgbClr val="1E293B"/>
                </a:solidFill>
                <a:latin typeface="Open Sans"/>
                <a:ea typeface="Open Sans"/>
                <a:cs typeface="Open Sans"/>
                <a:sym typeface="Open Sans"/>
              </a:rPr>
              <a:t>View subscription details</a:t>
            </a:r>
          </a:p>
          <a:p>
            <a:pPr algn="l">
              <a:lnSpc>
                <a:spcPts val="4361"/>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6758865"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Subscription Tracking</a:t>
            </a:r>
            <a:r>
              <a:rPr lang="en-US" b="true" sz="2499">
                <a:solidFill>
                  <a:srgbClr val="1E293B"/>
                </a:solidFill>
                <a:latin typeface="Open Sans Bold"/>
                <a:ea typeface="Open Sans Bold"/>
                <a:cs typeface="Open Sans Bold"/>
                <a:sym typeface="Open Sans Bold"/>
              </a:rPr>
              <a:t> Application </a:t>
            </a:r>
          </a:p>
        </p:txBody>
      </p:sp>
      <p:sp>
        <p:nvSpPr>
          <p:cNvPr name="TextBox 7" id="7"/>
          <p:cNvSpPr txBox="true"/>
          <p:nvPr/>
        </p:nvSpPr>
        <p:spPr>
          <a:xfrm rot="0">
            <a:off x="2255701" y="2231378"/>
            <a:ext cx="8977822" cy="7698003"/>
          </a:xfrm>
          <a:prstGeom prst="rect">
            <a:avLst/>
          </a:prstGeom>
        </p:spPr>
        <p:txBody>
          <a:bodyPr anchor="t" rtlCol="false" tIns="0" lIns="0" bIns="0" rIns="0">
            <a:spAutoFit/>
          </a:bodyPr>
          <a:lstStyle/>
          <a:p>
            <a:pPr algn="l">
              <a:lnSpc>
                <a:spcPts val="4100"/>
              </a:lnSpc>
            </a:pPr>
            <a:r>
              <a:rPr lang="en-US" sz="2929" b="true">
                <a:solidFill>
                  <a:srgbClr val="1E293B"/>
                </a:solidFill>
                <a:latin typeface="Open Sans Bold"/>
                <a:ea typeface="Open Sans Bold"/>
                <a:cs typeface="Open Sans Bold"/>
                <a:sym typeface="Open Sans Bold"/>
              </a:rPr>
              <a:t>Dashboard</a:t>
            </a:r>
          </a:p>
          <a:p>
            <a:pPr algn="l">
              <a:lnSpc>
                <a:spcPts val="4100"/>
              </a:lnSpc>
            </a:pPr>
            <a:r>
              <a:rPr lang="en-US" sz="2929">
                <a:solidFill>
                  <a:srgbClr val="1E293B"/>
                </a:solidFill>
                <a:latin typeface="Open Sans"/>
                <a:ea typeface="Open Sans"/>
                <a:cs typeface="Open Sans"/>
                <a:sym typeface="Open Sans"/>
              </a:rPr>
              <a:t>The dashboard displays:</a:t>
            </a:r>
          </a:p>
          <a:p>
            <a:pPr algn="l" marL="632374" indent="-316187" lvl="1">
              <a:lnSpc>
                <a:spcPts val="4100"/>
              </a:lnSpc>
              <a:buFont typeface="Arial"/>
              <a:buChar char="•"/>
            </a:pPr>
            <a:r>
              <a:rPr lang="en-US" sz="2929">
                <a:solidFill>
                  <a:srgbClr val="1E293B"/>
                </a:solidFill>
                <a:latin typeface="Open Sans"/>
                <a:ea typeface="Open Sans"/>
                <a:cs typeface="Open Sans"/>
                <a:sym typeface="Open Sans"/>
              </a:rPr>
              <a:t>Total monthly spending</a:t>
            </a:r>
          </a:p>
          <a:p>
            <a:pPr algn="l" marL="632374" indent="-316187" lvl="1">
              <a:lnSpc>
                <a:spcPts val="4100"/>
              </a:lnSpc>
              <a:buFont typeface="Arial"/>
              <a:buChar char="•"/>
            </a:pPr>
            <a:r>
              <a:rPr lang="en-US" sz="2929">
                <a:solidFill>
                  <a:srgbClr val="1E293B"/>
                </a:solidFill>
                <a:latin typeface="Open Sans"/>
                <a:ea typeface="Open Sans"/>
                <a:cs typeface="Open Sans"/>
                <a:sym typeface="Open Sans"/>
              </a:rPr>
              <a:t>Total yearly spending</a:t>
            </a:r>
          </a:p>
          <a:p>
            <a:pPr algn="l" marL="632374" indent="-316187" lvl="1">
              <a:lnSpc>
                <a:spcPts val="4100"/>
              </a:lnSpc>
              <a:buFont typeface="Arial"/>
              <a:buChar char="•"/>
            </a:pPr>
            <a:r>
              <a:rPr lang="en-US" sz="2929">
                <a:solidFill>
                  <a:srgbClr val="1E293B"/>
                </a:solidFill>
                <a:latin typeface="Open Sans"/>
                <a:ea typeface="Open Sans"/>
                <a:cs typeface="Open Sans"/>
                <a:sym typeface="Open Sans"/>
              </a:rPr>
              <a:t>Upcoming renewals</a:t>
            </a:r>
          </a:p>
          <a:p>
            <a:pPr algn="l" marL="632374" indent="-316187" lvl="1">
              <a:lnSpc>
                <a:spcPts val="4100"/>
              </a:lnSpc>
              <a:buFont typeface="Arial"/>
              <a:buChar char="•"/>
            </a:pPr>
            <a:r>
              <a:rPr lang="en-US" sz="2929">
                <a:solidFill>
                  <a:srgbClr val="1E293B"/>
                </a:solidFill>
                <a:latin typeface="Open Sans"/>
                <a:ea typeface="Open Sans"/>
                <a:cs typeface="Open Sans"/>
                <a:sym typeface="Open Sans"/>
              </a:rPr>
              <a:t>Subscript</a:t>
            </a:r>
            <a:r>
              <a:rPr lang="en-US" sz="2929">
                <a:solidFill>
                  <a:srgbClr val="1E293B"/>
                </a:solidFill>
                <a:latin typeface="Open Sans"/>
                <a:ea typeface="Open Sans"/>
                <a:cs typeface="Open Sans"/>
                <a:sym typeface="Open Sans"/>
              </a:rPr>
              <a:t>ion summary</a:t>
            </a:r>
          </a:p>
          <a:p>
            <a:pPr algn="l">
              <a:lnSpc>
                <a:spcPts val="4100"/>
              </a:lnSpc>
            </a:pPr>
          </a:p>
          <a:p>
            <a:pPr algn="l">
              <a:lnSpc>
                <a:spcPts val="4100"/>
              </a:lnSpc>
            </a:pPr>
            <a:r>
              <a:rPr lang="en-US" b="true" sz="2929">
                <a:solidFill>
                  <a:srgbClr val="1E293B"/>
                </a:solidFill>
                <a:latin typeface="Open Sans Bold"/>
                <a:ea typeface="Open Sans Bold"/>
                <a:cs typeface="Open Sans Bold"/>
                <a:sym typeface="Open Sans Bold"/>
              </a:rPr>
              <a:t>Additional Benefits</a:t>
            </a:r>
          </a:p>
          <a:p>
            <a:pPr algn="l" marL="632374" indent="-316187" lvl="1">
              <a:lnSpc>
                <a:spcPts val="4100"/>
              </a:lnSpc>
              <a:buFont typeface="Arial"/>
              <a:buChar char="•"/>
            </a:pPr>
            <a:r>
              <a:rPr lang="en-US" sz="2929">
                <a:solidFill>
                  <a:srgbClr val="1E293B"/>
                </a:solidFill>
                <a:latin typeface="Open Sans"/>
                <a:ea typeface="Open Sans"/>
                <a:cs typeface="Open Sans"/>
                <a:sym typeface="Open Sans"/>
              </a:rPr>
              <a:t>Saves money</a:t>
            </a:r>
          </a:p>
          <a:p>
            <a:pPr algn="l" marL="632374" indent="-316187" lvl="1">
              <a:lnSpc>
                <a:spcPts val="4100"/>
              </a:lnSpc>
              <a:buFont typeface="Arial"/>
              <a:buChar char="•"/>
            </a:pPr>
            <a:r>
              <a:rPr lang="en-US" sz="2929">
                <a:solidFill>
                  <a:srgbClr val="1E293B"/>
                </a:solidFill>
                <a:latin typeface="Open Sans"/>
                <a:ea typeface="Open Sans"/>
                <a:cs typeface="Open Sans"/>
                <a:sym typeface="Open Sans"/>
              </a:rPr>
              <a:t>Saves time</a:t>
            </a:r>
          </a:p>
          <a:p>
            <a:pPr algn="l" marL="632374" indent="-316187" lvl="1">
              <a:lnSpc>
                <a:spcPts val="4100"/>
              </a:lnSpc>
              <a:buFont typeface="Arial"/>
              <a:buChar char="•"/>
            </a:pPr>
            <a:r>
              <a:rPr lang="en-US" sz="2929">
                <a:solidFill>
                  <a:srgbClr val="1E293B"/>
                </a:solidFill>
                <a:latin typeface="Open Sans"/>
                <a:ea typeface="Open Sans"/>
                <a:cs typeface="Open Sans"/>
                <a:sym typeface="Open Sans"/>
              </a:rPr>
              <a:t>Improves financial planning</a:t>
            </a:r>
          </a:p>
          <a:p>
            <a:pPr algn="l" marL="632374" indent="-316187" lvl="1">
              <a:lnSpc>
                <a:spcPts val="4100"/>
              </a:lnSpc>
              <a:buFont typeface="Arial"/>
              <a:buChar char="•"/>
            </a:pPr>
            <a:r>
              <a:rPr lang="en-US" sz="2929">
                <a:solidFill>
                  <a:srgbClr val="1E293B"/>
                </a:solidFill>
                <a:latin typeface="Open Sans"/>
                <a:ea typeface="Open Sans"/>
                <a:cs typeface="Open Sans"/>
                <a:sym typeface="Open Sans"/>
              </a:rPr>
              <a:t>Better user experience</a:t>
            </a:r>
          </a:p>
          <a:p>
            <a:pPr algn="l" marL="632374" indent="-316187" lvl="1">
              <a:lnSpc>
                <a:spcPts val="4100"/>
              </a:lnSpc>
              <a:buFont typeface="Arial"/>
              <a:buChar char="•"/>
            </a:pPr>
            <a:r>
              <a:rPr lang="en-US" sz="2929">
                <a:solidFill>
                  <a:srgbClr val="1E293B"/>
                </a:solidFill>
                <a:latin typeface="Open Sans"/>
                <a:ea typeface="Open Sans"/>
                <a:cs typeface="Open Sans"/>
                <a:sym typeface="Open Sans"/>
              </a:rPr>
              <a:t>Easy to manage multiple subscriptions</a:t>
            </a:r>
          </a:p>
          <a:p>
            <a:pPr algn="l" marL="632374" indent="-316187" lvl="1">
              <a:lnSpc>
                <a:spcPts val="4100"/>
              </a:lnSpc>
              <a:buFont typeface="Arial"/>
              <a:buChar char="•"/>
            </a:pPr>
            <a:r>
              <a:rPr lang="en-US" sz="2929">
                <a:solidFill>
                  <a:srgbClr val="1E293B"/>
                </a:solidFill>
                <a:latin typeface="Open Sans"/>
                <a:ea typeface="Open Sans"/>
                <a:cs typeface="Open Sans"/>
                <a:sym typeface="Open Sans"/>
              </a:rPr>
              <a:t>Secure database storage</a:t>
            </a:r>
          </a:p>
          <a:p>
            <a:pPr algn="l">
              <a:lnSpc>
                <a:spcPts val="410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5568433"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Subscription Tracking</a:t>
            </a:r>
            <a:r>
              <a:rPr lang="en-US" b="true" sz="2499">
                <a:solidFill>
                  <a:srgbClr val="1E293B"/>
                </a:solidFill>
                <a:latin typeface="Open Sans Bold"/>
                <a:ea typeface="Open Sans Bold"/>
                <a:cs typeface="Open Sans Bold"/>
                <a:sym typeface="Open Sans Bold"/>
              </a:rPr>
              <a:t> Application </a:t>
            </a:r>
          </a:p>
        </p:txBody>
      </p:sp>
      <p:sp>
        <p:nvSpPr>
          <p:cNvPr name="TextBox 7" id="7"/>
          <p:cNvSpPr txBox="true"/>
          <p:nvPr/>
        </p:nvSpPr>
        <p:spPr>
          <a:xfrm rot="0">
            <a:off x="1028700" y="2226019"/>
            <a:ext cx="11502111"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System Flow Diagram</a:t>
            </a:r>
          </a:p>
        </p:txBody>
      </p:sp>
      <p:sp>
        <p:nvSpPr>
          <p:cNvPr name="TextBox 8" id="8"/>
          <p:cNvSpPr txBox="true"/>
          <p:nvPr/>
        </p:nvSpPr>
        <p:spPr>
          <a:xfrm rot="0">
            <a:off x="1683297" y="3563893"/>
            <a:ext cx="4012799" cy="6429337"/>
          </a:xfrm>
          <a:prstGeom prst="rect">
            <a:avLst/>
          </a:prstGeom>
        </p:spPr>
        <p:txBody>
          <a:bodyPr anchor="t" rtlCol="false" tIns="0" lIns="0" bIns="0" rIns="0">
            <a:spAutoFit/>
          </a:bodyPr>
          <a:lstStyle/>
          <a:p>
            <a:pPr algn="l">
              <a:lnSpc>
                <a:spcPts val="1832"/>
              </a:lnSpc>
            </a:pPr>
            <a:r>
              <a:rPr lang="en-US" sz="1309">
                <a:solidFill>
                  <a:srgbClr val="1E293B"/>
                </a:solidFill>
                <a:latin typeface="Open Sans"/>
                <a:ea typeface="Open Sans"/>
                <a:cs typeface="Open Sans"/>
                <a:sym typeface="Open Sans"/>
              </a:rPr>
              <a:t>                 Start</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User Registration/Login</a:t>
            </a:r>
          </a:p>
          <a:p>
            <a:pPr algn="l">
              <a:lnSpc>
                <a:spcPts val="1832"/>
              </a:lnSpc>
            </a:pPr>
            <a:r>
              <a:rPr lang="en-US" sz="1309">
                <a:solidFill>
                  <a:srgbClr val="1E293B"/>
                </a:solidFill>
                <a:latin typeface="Open Sans"/>
                <a:ea typeface="Open Sans"/>
                <a:cs typeface="Open Sans"/>
                <a:sym typeface="Open Sans"/>
              </a:rPr>
              <a:t>      </a:t>
            </a: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User Dashboard</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Add Subscription Details</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Validate User Input</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Save Data into Database</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Calculate Monthly/Yearly Cost</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Display Dashboard Analytics</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Upcoming Renewal Reminders</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End</a:t>
            </a:r>
          </a:p>
        </p:txBody>
      </p:sp>
      <p:sp>
        <p:nvSpPr>
          <p:cNvPr name="TextBox 9" id="9"/>
          <p:cNvSpPr txBox="true"/>
          <p:nvPr/>
        </p:nvSpPr>
        <p:spPr>
          <a:xfrm rot="0">
            <a:off x="5918494" y="3795892"/>
            <a:ext cx="12110986" cy="3064872"/>
          </a:xfrm>
          <a:prstGeom prst="rect">
            <a:avLst/>
          </a:prstGeom>
        </p:spPr>
        <p:txBody>
          <a:bodyPr anchor="t" rtlCol="false" tIns="0" lIns="0" bIns="0" rIns="0">
            <a:spAutoFit/>
          </a:bodyPr>
          <a:lstStyle/>
          <a:p>
            <a:pPr algn="l">
              <a:lnSpc>
                <a:spcPts val="3056"/>
              </a:lnSpc>
            </a:pPr>
            <a:r>
              <a:rPr lang="en-US" sz="2183" b="true">
                <a:solidFill>
                  <a:srgbClr val="1E293B"/>
                </a:solidFill>
                <a:latin typeface="Canva Sans Bold"/>
                <a:ea typeface="Canva Sans Bold"/>
                <a:cs typeface="Canva Sans Bold"/>
                <a:sym typeface="Canva Sans Bold"/>
              </a:rPr>
              <a:t>Working</a:t>
            </a:r>
            <a:r>
              <a:rPr lang="en-US" b="true" sz="2183">
                <a:solidFill>
                  <a:srgbClr val="1E293B"/>
                </a:solidFill>
                <a:latin typeface="Canva Sans Bold"/>
                <a:ea typeface="Canva Sans Bold"/>
                <a:cs typeface="Canva Sans Bold"/>
                <a:sym typeface="Canva Sans Bold"/>
              </a:rPr>
              <a:t> Process</a:t>
            </a:r>
          </a:p>
          <a:p>
            <a:pPr algn="l" marL="471373" indent="-235687" lvl="1">
              <a:lnSpc>
                <a:spcPts val="3056"/>
              </a:lnSpc>
              <a:buAutoNum type="arabicPeriod" startAt="1"/>
            </a:pPr>
            <a:r>
              <a:rPr lang="en-US" sz="2183">
                <a:solidFill>
                  <a:srgbClr val="1E293B"/>
                </a:solidFill>
                <a:latin typeface="Canva Sans"/>
                <a:ea typeface="Canva Sans"/>
                <a:cs typeface="Canva Sans"/>
                <a:sym typeface="Canva Sans"/>
              </a:rPr>
              <a:t>User logs into the application.</a:t>
            </a:r>
          </a:p>
          <a:p>
            <a:pPr algn="l" marL="471373" indent="-235687" lvl="1">
              <a:lnSpc>
                <a:spcPts val="3056"/>
              </a:lnSpc>
              <a:buAutoNum type="arabicPeriod" startAt="1"/>
            </a:pPr>
            <a:r>
              <a:rPr lang="en-US" sz="2183">
                <a:solidFill>
                  <a:srgbClr val="1E293B"/>
                </a:solidFill>
                <a:latin typeface="Canva Sans"/>
                <a:ea typeface="Canva Sans"/>
                <a:cs typeface="Canva Sans"/>
                <a:sym typeface="Canva Sans"/>
              </a:rPr>
              <a:t>The user adds subscription information (service name, cost, billing cycle, renewal date).</a:t>
            </a:r>
          </a:p>
          <a:p>
            <a:pPr algn="l" marL="471373" indent="-235687" lvl="1">
              <a:lnSpc>
                <a:spcPts val="3056"/>
              </a:lnSpc>
              <a:buAutoNum type="arabicPeriod" startAt="1"/>
            </a:pPr>
            <a:r>
              <a:rPr lang="en-US" sz="2183">
                <a:solidFill>
                  <a:srgbClr val="1E293B"/>
                </a:solidFill>
                <a:latin typeface="Canva Sans"/>
                <a:ea typeface="Canva Sans"/>
                <a:cs typeface="Canva Sans"/>
                <a:sym typeface="Canva Sans"/>
              </a:rPr>
              <a:t>The system stores the information in the database.</a:t>
            </a:r>
          </a:p>
          <a:p>
            <a:pPr algn="l" marL="471373" indent="-235687" lvl="1">
              <a:lnSpc>
                <a:spcPts val="3056"/>
              </a:lnSpc>
              <a:buAutoNum type="arabicPeriod" startAt="1"/>
            </a:pPr>
            <a:r>
              <a:rPr lang="en-US" sz="2183">
                <a:solidFill>
                  <a:srgbClr val="1E293B"/>
                </a:solidFill>
                <a:latin typeface="Canva Sans"/>
                <a:ea typeface="Canva Sans"/>
                <a:cs typeface="Canva Sans"/>
                <a:sym typeface="Canva Sans"/>
              </a:rPr>
              <a:t>The backend calculates monthly and yearly expenses.</a:t>
            </a:r>
          </a:p>
          <a:p>
            <a:pPr algn="l" marL="471373" indent="-235687" lvl="1">
              <a:lnSpc>
                <a:spcPts val="3056"/>
              </a:lnSpc>
              <a:buAutoNum type="arabicPeriod" startAt="1"/>
            </a:pPr>
            <a:r>
              <a:rPr lang="en-US" sz="2183">
                <a:solidFill>
                  <a:srgbClr val="1E293B"/>
                </a:solidFill>
                <a:latin typeface="Canva Sans"/>
                <a:ea typeface="Canva Sans"/>
                <a:cs typeface="Canva Sans"/>
                <a:sym typeface="Canva Sans"/>
              </a:rPr>
              <a:t>The dashboard displays analytics and upcoming renewal dates.</a:t>
            </a:r>
          </a:p>
          <a:p>
            <a:pPr algn="l" marL="471373" indent="-235687" lvl="1">
              <a:lnSpc>
                <a:spcPts val="3056"/>
              </a:lnSpc>
              <a:buAutoNum type="arabicPeriod" startAt="1"/>
            </a:pPr>
            <a:r>
              <a:rPr lang="en-US" sz="2183">
                <a:solidFill>
                  <a:srgbClr val="1E293B"/>
                </a:solidFill>
                <a:latin typeface="Canva Sans"/>
                <a:ea typeface="Canva Sans"/>
                <a:cs typeface="Canva Sans"/>
                <a:sym typeface="Canva Sans"/>
              </a:rPr>
              <a:t>The user can update or delete subscriptions whenever needed.</a:t>
            </a:r>
          </a:p>
          <a:p>
            <a:pPr algn="l">
              <a:lnSpc>
                <a:spcPts val="305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257501" y="8066575"/>
            <a:ext cx="0" cy="867546"/>
          </a:xfrm>
          <a:prstGeom prst="line">
            <a:avLst/>
          </a:prstGeom>
          <a:ln cap="rnd" w="57150">
            <a:solidFill>
              <a:srgbClr val="60A5FA"/>
            </a:solidFill>
            <a:prstDash val="solid"/>
            <a:headEnd type="none" len="sm" w="sm"/>
            <a:tailEnd type="none" len="sm" w="sm"/>
          </a:ln>
        </p:spPr>
      </p:sp>
      <p:grpSp>
        <p:nvGrpSpPr>
          <p:cNvPr name="Group 7" id="7"/>
          <p:cNvGrpSpPr/>
          <p:nvPr/>
        </p:nvGrpSpPr>
        <p:grpSpPr>
          <a:xfrm rot="0">
            <a:off x="10191726" y="1580598"/>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10319354" y="-4277500"/>
            <a:ext cx="7116554" cy="711655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10191726" y="6977077"/>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1028700" y="3055194"/>
            <a:ext cx="9537689" cy="1987549"/>
          </a:xfrm>
          <a:prstGeom prst="rect">
            <a:avLst/>
          </a:prstGeom>
        </p:spPr>
        <p:txBody>
          <a:bodyPr anchor="t" rtlCol="false" tIns="0" lIns="0" bIns="0" rIns="0">
            <a:spAutoFit/>
          </a:bodyPr>
          <a:lstStyle/>
          <a:p>
            <a:pPr algn="just">
              <a:lnSpc>
                <a:spcPts val="15400"/>
              </a:lnSpc>
            </a:pPr>
            <a:r>
              <a:rPr lang="en-US" sz="11000" b="true">
                <a:solidFill>
                  <a:srgbClr val="1E293B"/>
                </a:solidFill>
                <a:latin typeface="Poppins Semi-Bold"/>
                <a:ea typeface="Poppins Semi-Bold"/>
                <a:cs typeface="Poppins Semi-Bold"/>
                <a:sym typeface="Poppins Semi-Bold"/>
              </a:rPr>
              <a:t>Thank</a:t>
            </a:r>
          </a:p>
        </p:txBody>
      </p:sp>
      <p:sp>
        <p:nvSpPr>
          <p:cNvPr name="TextBox 17" id="17"/>
          <p:cNvSpPr txBox="true"/>
          <p:nvPr/>
        </p:nvSpPr>
        <p:spPr>
          <a:xfrm rot="0">
            <a:off x="1028700" y="4450251"/>
            <a:ext cx="7640629" cy="1987549"/>
          </a:xfrm>
          <a:prstGeom prst="rect">
            <a:avLst/>
          </a:prstGeom>
        </p:spPr>
        <p:txBody>
          <a:bodyPr anchor="t" rtlCol="false" tIns="0" lIns="0" bIns="0" rIns="0">
            <a:spAutoFit/>
          </a:bodyPr>
          <a:lstStyle/>
          <a:p>
            <a:pPr algn="just">
              <a:lnSpc>
                <a:spcPts val="15400"/>
              </a:lnSpc>
            </a:pPr>
            <a:r>
              <a:rPr lang="en-US" sz="11000" b="true">
                <a:solidFill>
                  <a:srgbClr val="1E293B"/>
                </a:solidFill>
                <a:latin typeface="Poppins Semi-Bold"/>
                <a:ea typeface="Poppins Semi-Bold"/>
                <a:cs typeface="Poppins Semi-Bold"/>
                <a:sym typeface="Poppins Semi-Bold"/>
              </a:rPr>
              <a:t>You</a:t>
            </a:r>
          </a:p>
        </p:txBody>
      </p:sp>
      <p:sp>
        <p:nvSpPr>
          <p:cNvPr name="TextBox 18" id="18"/>
          <p:cNvSpPr txBox="true"/>
          <p:nvPr/>
        </p:nvSpPr>
        <p:spPr>
          <a:xfrm rot="0">
            <a:off x="2255701" y="1080396"/>
            <a:ext cx="6476137"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Subscription Tracking</a:t>
            </a:r>
            <a:r>
              <a:rPr lang="en-US" b="true" sz="2499">
                <a:solidFill>
                  <a:srgbClr val="1E293B"/>
                </a:solidFill>
                <a:latin typeface="Open Sans Bold"/>
                <a:ea typeface="Open Sans Bold"/>
                <a:cs typeface="Open Sans Bold"/>
                <a:sym typeface="Open Sans Bold"/>
              </a:rPr>
              <a:t> Application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DAHRnO8qVow</dc:identifier>
  <dcterms:modified xsi:type="dcterms:W3CDTF">2011-08-01T06:04:30Z</dcterms:modified>
  <cp:revision>1</cp:revision>
  <dc:title>ollah</dc:title>
</cp:coreProperties>
</file>
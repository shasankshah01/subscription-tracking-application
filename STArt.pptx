
<file path=[Content_Types].xml><?xml version="1.0" encoding="utf-8"?>
<Types xmlns="http://schemas.openxmlformats.org/package/2006/content-types">
  <Default Extension="fntdata" ContentType="application/x-fontdata"/>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Lst>
  <p:sldSz cx="18288000" cy="10287000"/>
  <p:notesSz cx="6858000" cy="9144000"/>
  <p:embeddedFontLst>
    <p:embeddedFont>
      <p:font typeface="Canva Sans" panose="020B0604020202020204" charset="0"/>
      <p:regular r:id="rId11"/>
    </p:embeddedFont>
    <p:embeddedFont>
      <p:font typeface="Canva Sans Bold" panose="020B0604020202020204" charset="0"/>
      <p:regular r:id="rId12"/>
    </p:embeddedFont>
    <p:embeddedFont>
      <p:font typeface="Open Sans" panose="020B0606030504020204" pitchFamily="34" charset="0"/>
      <p:regular r:id="rId13"/>
    </p:embeddedFont>
    <p:embeddedFont>
      <p:font typeface="Open Sans Bold" panose="020B0806030504020204" charset="0"/>
      <p:regular r:id="rId14"/>
    </p:embeddedFont>
    <p:embeddedFont>
      <p:font typeface="Poppins Semi-Bold" panose="020B0604020202020204" charset="0"/>
      <p:regular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0" d="100"/>
          <a:sy n="70" d="100"/>
        </p:scale>
        <p:origin x="774" y="54"/>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3.fntdata"/><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2.fntdata"/><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font" Target="fonts/font5.fntdata"/><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4.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8/8/2026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8/8/2026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8/8/2026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8/8/2026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8/8/2026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0" y="0"/>
            <a:ext cx="367633" cy="10287000"/>
            <a:chOff x="0" y="0"/>
            <a:chExt cx="96825" cy="2709333"/>
          </a:xfrm>
        </p:grpSpPr>
        <p:sp>
          <p:nvSpPr>
            <p:cNvPr id="3" name="Freeform 3"/>
            <p:cNvSpPr/>
            <p:nvPr/>
          </p:nvSpPr>
          <p:spPr>
            <a:xfrm>
              <a:off x="0" y="0"/>
              <a:ext cx="96825" cy="2709333"/>
            </a:xfrm>
            <a:custGeom>
              <a:avLst/>
              <a:gdLst/>
              <a:ahLst/>
              <a:cxnLst/>
              <a:rect l="l" t="t" r="r" b="b"/>
              <a:pathLst>
                <a:path w="96825" h="2709333">
                  <a:moveTo>
                    <a:pt x="0" y="0"/>
                  </a:moveTo>
                  <a:lnTo>
                    <a:pt x="96825" y="0"/>
                  </a:lnTo>
                  <a:lnTo>
                    <a:pt x="96825" y="2709333"/>
                  </a:lnTo>
                  <a:lnTo>
                    <a:pt x="0" y="2709333"/>
                  </a:lnTo>
                  <a:close/>
                </a:path>
              </a:pathLst>
            </a:custGeom>
            <a:gradFill rotWithShape="1">
              <a:gsLst>
                <a:gs pos="0">
                  <a:srgbClr val="60A5FA">
                    <a:alpha val="100000"/>
                  </a:srgbClr>
                </a:gs>
                <a:gs pos="100000">
                  <a:srgbClr val="FFFFFF">
                    <a:alpha val="100000"/>
                  </a:srgbClr>
                </a:gs>
              </a:gsLst>
              <a:lin ang="2700000"/>
            </a:gradFill>
          </p:spPr>
          <p:txBody>
            <a:bodyPr/>
            <a:lstStyle/>
            <a:p>
              <a:endParaRPr lang="en-IN"/>
            </a:p>
          </p:txBody>
        </p:sp>
        <p:sp>
          <p:nvSpPr>
            <p:cNvPr id="4" name="TextBox 4"/>
            <p:cNvSpPr txBox="1"/>
            <p:nvPr/>
          </p:nvSpPr>
          <p:spPr>
            <a:xfrm>
              <a:off x="0" y="-38100"/>
              <a:ext cx="968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1028700" y="891823"/>
            <a:ext cx="847008" cy="847008"/>
          </a:xfrm>
          <a:custGeom>
            <a:avLst/>
            <a:gdLst/>
            <a:ahLst/>
            <a:cxnLst/>
            <a:rect l="l" t="t" r="r" b="b"/>
            <a:pathLst>
              <a:path w="847008" h="847008">
                <a:moveTo>
                  <a:pt x="0" y="0"/>
                </a:moveTo>
                <a:lnTo>
                  <a:pt x="847008" y="0"/>
                </a:lnTo>
                <a:lnTo>
                  <a:pt x="847008" y="847008"/>
                </a:lnTo>
                <a:lnTo>
                  <a:pt x="0" y="84700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6" name="AutoShape 6"/>
          <p:cNvSpPr/>
          <p:nvPr/>
        </p:nvSpPr>
        <p:spPr>
          <a:xfrm>
            <a:off x="1257501" y="8066575"/>
            <a:ext cx="0" cy="867546"/>
          </a:xfrm>
          <a:prstGeom prst="line">
            <a:avLst/>
          </a:prstGeom>
          <a:ln w="57150" cap="rnd">
            <a:solidFill>
              <a:srgbClr val="60A5FA"/>
            </a:solidFill>
            <a:prstDash val="solid"/>
            <a:headEnd type="none" w="sm" len="sm"/>
            <a:tailEnd type="none" w="sm" len="sm"/>
          </a:ln>
        </p:spPr>
        <p:txBody>
          <a:bodyPr/>
          <a:lstStyle/>
          <a:p>
            <a:endParaRPr lang="en-IN"/>
          </a:p>
        </p:txBody>
      </p:sp>
      <p:grpSp>
        <p:nvGrpSpPr>
          <p:cNvPr id="7" name="Group 7"/>
          <p:cNvGrpSpPr/>
          <p:nvPr/>
        </p:nvGrpSpPr>
        <p:grpSpPr>
          <a:xfrm>
            <a:off x="10191726" y="1580598"/>
            <a:ext cx="7244181" cy="7244181"/>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0A5FA">
                    <a:alpha val="100000"/>
                  </a:srgbClr>
                </a:gs>
                <a:gs pos="100000">
                  <a:srgbClr val="FFFFFF">
                    <a:alpha val="100000"/>
                  </a:srgbClr>
                </a:gs>
              </a:gsLst>
              <a:lin ang="5400000"/>
            </a:gradFill>
            <a:ln cap="sq">
              <a:noFill/>
              <a:prstDash val="solid"/>
              <a:miter/>
            </a:ln>
          </p:spPr>
          <p:txBody>
            <a:bodyPr/>
            <a:lstStyle/>
            <a:p>
              <a:endParaRPr lang="en-IN"/>
            </a:p>
          </p:txBody>
        </p:sp>
        <p:sp>
          <p:nvSpPr>
            <p:cNvPr id="9" name="TextBox 9"/>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10" name="Group 10"/>
          <p:cNvGrpSpPr/>
          <p:nvPr/>
        </p:nvGrpSpPr>
        <p:grpSpPr>
          <a:xfrm>
            <a:off x="10319354" y="-4277500"/>
            <a:ext cx="7116554" cy="7116554"/>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47625" cap="sq">
              <a:solidFill>
                <a:srgbClr val="60A5FA"/>
              </a:solidFill>
              <a:prstDash val="solid"/>
              <a:miter/>
            </a:ln>
          </p:spPr>
          <p:txBody>
            <a:bodyPr/>
            <a:lstStyle/>
            <a:p>
              <a:endParaRPr lang="en-IN"/>
            </a:p>
          </p:txBody>
        </p:sp>
        <p:sp>
          <p:nvSpPr>
            <p:cNvPr id="12" name="TextBox 12"/>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13" name="Group 13"/>
          <p:cNvGrpSpPr/>
          <p:nvPr/>
        </p:nvGrpSpPr>
        <p:grpSpPr>
          <a:xfrm>
            <a:off x="10191726" y="6977077"/>
            <a:ext cx="7244181" cy="7244181"/>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952500" cap="sq">
              <a:gradFill>
                <a:gsLst>
                  <a:gs pos="0">
                    <a:srgbClr val="60A5FA">
                      <a:alpha val="100000"/>
                    </a:srgbClr>
                  </a:gs>
                  <a:gs pos="100000">
                    <a:srgbClr val="FFFFFF">
                      <a:alpha val="100000"/>
                    </a:srgbClr>
                  </a:gs>
                </a:gsLst>
                <a:lin ang="5400000"/>
              </a:gradFill>
              <a:prstDash val="solid"/>
              <a:miter/>
            </a:ln>
          </p:spPr>
          <p:txBody>
            <a:bodyPr/>
            <a:lstStyle/>
            <a:p>
              <a:endParaRPr lang="en-IN"/>
            </a:p>
          </p:txBody>
        </p:sp>
        <p:sp>
          <p:nvSpPr>
            <p:cNvPr id="15" name="TextBox 15"/>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16" name="TextBox 16"/>
          <p:cNvSpPr txBox="1"/>
          <p:nvPr/>
        </p:nvSpPr>
        <p:spPr>
          <a:xfrm>
            <a:off x="1028700" y="3159969"/>
            <a:ext cx="6088491" cy="3770632"/>
          </a:xfrm>
          <a:prstGeom prst="rect">
            <a:avLst/>
          </a:prstGeom>
        </p:spPr>
        <p:txBody>
          <a:bodyPr lIns="0" tIns="0" rIns="0" bIns="0" rtlCol="0" anchor="t">
            <a:spAutoFit/>
          </a:bodyPr>
          <a:lstStyle/>
          <a:p>
            <a:pPr algn="just">
              <a:lnSpc>
                <a:spcPts val="9830"/>
              </a:lnSpc>
            </a:pPr>
            <a:r>
              <a:rPr lang="en-US" sz="7021" b="1">
                <a:solidFill>
                  <a:srgbClr val="1E293B"/>
                </a:solidFill>
                <a:latin typeface="Poppins Semi-Bold"/>
                <a:ea typeface="Poppins Semi-Bold"/>
                <a:cs typeface="Poppins Semi-Bold"/>
                <a:sym typeface="Poppins Semi-Bold"/>
              </a:rPr>
              <a:t>Subscription Tracking Application </a:t>
            </a:r>
          </a:p>
        </p:txBody>
      </p:sp>
      <p:sp>
        <p:nvSpPr>
          <p:cNvPr id="17" name="TextBox 17"/>
          <p:cNvSpPr txBox="1"/>
          <p:nvPr/>
        </p:nvSpPr>
        <p:spPr>
          <a:xfrm>
            <a:off x="2255701" y="1080396"/>
            <a:ext cx="5598194" cy="422275"/>
          </a:xfrm>
          <a:prstGeom prst="rect">
            <a:avLst/>
          </a:prstGeom>
        </p:spPr>
        <p:txBody>
          <a:bodyPr lIns="0" tIns="0" rIns="0" bIns="0" rtlCol="0" anchor="t">
            <a:spAutoFit/>
          </a:bodyPr>
          <a:lstStyle/>
          <a:p>
            <a:pPr algn="l">
              <a:lnSpc>
                <a:spcPts val="3499"/>
              </a:lnSpc>
            </a:pPr>
            <a:r>
              <a:rPr lang="en-US" sz="2499" b="1">
                <a:solidFill>
                  <a:srgbClr val="1E293B"/>
                </a:solidFill>
                <a:latin typeface="Open Sans Bold"/>
                <a:ea typeface="Open Sans Bold"/>
                <a:cs typeface="Open Sans Bold"/>
                <a:sym typeface="Open Sans Bold"/>
              </a:rPr>
              <a:t>Subscription Tracking Application </a:t>
            </a:r>
          </a:p>
        </p:txBody>
      </p:sp>
      <p:sp>
        <p:nvSpPr>
          <p:cNvPr id="18" name="TextBox 18"/>
          <p:cNvSpPr txBox="1"/>
          <p:nvPr/>
        </p:nvSpPr>
        <p:spPr>
          <a:xfrm>
            <a:off x="1624608" y="8018950"/>
            <a:ext cx="3976232" cy="422238"/>
          </a:xfrm>
          <a:prstGeom prst="rect">
            <a:avLst/>
          </a:prstGeom>
        </p:spPr>
        <p:txBody>
          <a:bodyPr lIns="0" tIns="0" rIns="0" bIns="0" rtlCol="0" anchor="t">
            <a:spAutoFit/>
          </a:bodyPr>
          <a:lstStyle/>
          <a:p>
            <a:pPr algn="l">
              <a:lnSpc>
                <a:spcPts val="3499"/>
              </a:lnSpc>
            </a:pPr>
            <a:r>
              <a:rPr lang="en-US" sz="2499" b="1" dirty="0">
                <a:solidFill>
                  <a:srgbClr val="1E293B"/>
                </a:solidFill>
                <a:latin typeface="Open Sans Bold"/>
                <a:ea typeface="Open Sans Bold"/>
                <a:cs typeface="Open Sans Bold"/>
                <a:sym typeface="Open Sans Bold"/>
              </a:rPr>
              <a:t>Presented by:</a:t>
            </a:r>
          </a:p>
        </p:txBody>
      </p:sp>
      <p:sp>
        <p:nvSpPr>
          <p:cNvPr id="19" name="TextBox 19"/>
          <p:cNvSpPr txBox="1"/>
          <p:nvPr/>
        </p:nvSpPr>
        <p:spPr>
          <a:xfrm>
            <a:off x="1624608" y="8511884"/>
            <a:ext cx="3976232" cy="1317027"/>
          </a:xfrm>
          <a:prstGeom prst="rect">
            <a:avLst/>
          </a:prstGeom>
        </p:spPr>
        <p:txBody>
          <a:bodyPr lIns="0" tIns="0" rIns="0" bIns="0" rtlCol="0" anchor="t">
            <a:spAutoFit/>
          </a:bodyPr>
          <a:lstStyle/>
          <a:p>
            <a:pPr algn="l">
              <a:lnSpc>
                <a:spcPts val="3499"/>
              </a:lnSpc>
            </a:pPr>
            <a:r>
              <a:rPr lang="en-US" sz="2499" dirty="0">
                <a:solidFill>
                  <a:srgbClr val="1E293B"/>
                </a:solidFill>
                <a:latin typeface="Open Sans"/>
                <a:ea typeface="Open Sans"/>
                <a:cs typeface="Open Sans"/>
                <a:sym typeface="Open Sans"/>
              </a:rPr>
              <a:t>Ankit Aryan</a:t>
            </a:r>
          </a:p>
          <a:p>
            <a:pPr algn="l">
              <a:lnSpc>
                <a:spcPts val="3499"/>
              </a:lnSpc>
            </a:pPr>
            <a:r>
              <a:rPr lang="en-US" sz="2499" dirty="0">
                <a:solidFill>
                  <a:srgbClr val="1E293B"/>
                </a:solidFill>
                <a:latin typeface="Open Sans"/>
                <a:ea typeface="Open Sans"/>
                <a:cs typeface="Open Sans"/>
                <a:sym typeface="Open Sans"/>
              </a:rPr>
              <a:t>Shasank M Shah</a:t>
            </a:r>
          </a:p>
          <a:p>
            <a:pPr algn="l">
              <a:lnSpc>
                <a:spcPts val="3499"/>
              </a:lnSpc>
            </a:pPr>
            <a:r>
              <a:rPr lang="en-US" sz="2499" dirty="0">
                <a:solidFill>
                  <a:srgbClr val="1E293B"/>
                </a:solidFill>
                <a:latin typeface="Open Sans"/>
                <a:ea typeface="Open Sans"/>
                <a:cs typeface="Open Sans"/>
                <a:sym typeface="Open Sans"/>
              </a:rPr>
              <a:t>Puneet Solanki</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0" y="0"/>
            <a:ext cx="367633" cy="10287000"/>
            <a:chOff x="0" y="0"/>
            <a:chExt cx="96825" cy="2709333"/>
          </a:xfrm>
        </p:grpSpPr>
        <p:sp>
          <p:nvSpPr>
            <p:cNvPr id="3" name="Freeform 3"/>
            <p:cNvSpPr/>
            <p:nvPr/>
          </p:nvSpPr>
          <p:spPr>
            <a:xfrm>
              <a:off x="0" y="0"/>
              <a:ext cx="96825" cy="2709333"/>
            </a:xfrm>
            <a:custGeom>
              <a:avLst/>
              <a:gdLst/>
              <a:ahLst/>
              <a:cxnLst/>
              <a:rect l="l" t="t" r="r" b="b"/>
              <a:pathLst>
                <a:path w="96825" h="2709333">
                  <a:moveTo>
                    <a:pt x="0" y="0"/>
                  </a:moveTo>
                  <a:lnTo>
                    <a:pt x="96825" y="0"/>
                  </a:lnTo>
                  <a:lnTo>
                    <a:pt x="96825" y="2709333"/>
                  </a:lnTo>
                  <a:lnTo>
                    <a:pt x="0" y="2709333"/>
                  </a:lnTo>
                  <a:close/>
                </a:path>
              </a:pathLst>
            </a:custGeom>
            <a:gradFill rotWithShape="1">
              <a:gsLst>
                <a:gs pos="0">
                  <a:srgbClr val="60A5FA">
                    <a:alpha val="100000"/>
                  </a:srgbClr>
                </a:gs>
                <a:gs pos="100000">
                  <a:srgbClr val="FFFFFF">
                    <a:alpha val="100000"/>
                  </a:srgbClr>
                </a:gs>
              </a:gsLst>
              <a:lin ang="2700000"/>
            </a:gradFill>
          </p:spPr>
          <p:txBody>
            <a:bodyPr/>
            <a:lstStyle/>
            <a:p>
              <a:endParaRPr lang="en-IN"/>
            </a:p>
          </p:txBody>
        </p:sp>
        <p:sp>
          <p:nvSpPr>
            <p:cNvPr id="4" name="TextBox 4"/>
            <p:cNvSpPr txBox="1"/>
            <p:nvPr/>
          </p:nvSpPr>
          <p:spPr>
            <a:xfrm>
              <a:off x="0" y="-38100"/>
              <a:ext cx="968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1028700" y="891823"/>
            <a:ext cx="847008" cy="847008"/>
          </a:xfrm>
          <a:custGeom>
            <a:avLst/>
            <a:gdLst/>
            <a:ahLst/>
            <a:cxnLst/>
            <a:rect l="l" t="t" r="r" b="b"/>
            <a:pathLst>
              <a:path w="847008" h="847008">
                <a:moveTo>
                  <a:pt x="0" y="0"/>
                </a:moveTo>
                <a:lnTo>
                  <a:pt x="847008" y="0"/>
                </a:lnTo>
                <a:lnTo>
                  <a:pt x="847008" y="847008"/>
                </a:lnTo>
                <a:lnTo>
                  <a:pt x="0" y="84700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6" name="TextBox 6"/>
          <p:cNvSpPr txBox="1"/>
          <p:nvPr/>
        </p:nvSpPr>
        <p:spPr>
          <a:xfrm>
            <a:off x="2255701" y="1080396"/>
            <a:ext cx="5970204" cy="422275"/>
          </a:xfrm>
          <a:prstGeom prst="rect">
            <a:avLst/>
          </a:prstGeom>
        </p:spPr>
        <p:txBody>
          <a:bodyPr lIns="0" tIns="0" rIns="0" bIns="0" rtlCol="0" anchor="t">
            <a:spAutoFit/>
          </a:bodyPr>
          <a:lstStyle/>
          <a:p>
            <a:pPr algn="l">
              <a:lnSpc>
                <a:spcPts val="3499"/>
              </a:lnSpc>
            </a:pPr>
            <a:r>
              <a:rPr lang="en-US" sz="2499" b="1">
                <a:solidFill>
                  <a:srgbClr val="1E293B"/>
                </a:solidFill>
                <a:latin typeface="Open Sans Bold"/>
                <a:ea typeface="Open Sans Bold"/>
                <a:cs typeface="Open Sans Bold"/>
                <a:sym typeface="Open Sans Bold"/>
              </a:rPr>
              <a:t>Subscription Tracking Application </a:t>
            </a:r>
          </a:p>
        </p:txBody>
      </p:sp>
      <p:sp>
        <p:nvSpPr>
          <p:cNvPr id="7" name="TextBox 7"/>
          <p:cNvSpPr txBox="1"/>
          <p:nvPr/>
        </p:nvSpPr>
        <p:spPr>
          <a:xfrm>
            <a:off x="1028700" y="2352663"/>
            <a:ext cx="8567762" cy="1404648"/>
          </a:xfrm>
          <a:prstGeom prst="rect">
            <a:avLst/>
          </a:prstGeom>
        </p:spPr>
        <p:txBody>
          <a:bodyPr lIns="0" tIns="0" rIns="0" bIns="0" rtlCol="0" anchor="t">
            <a:spAutoFit/>
          </a:bodyPr>
          <a:lstStyle/>
          <a:p>
            <a:pPr algn="l">
              <a:lnSpc>
                <a:spcPts val="9808"/>
              </a:lnSpc>
            </a:pPr>
            <a:r>
              <a:rPr lang="en-US" sz="10008" b="1">
                <a:solidFill>
                  <a:srgbClr val="1E293B"/>
                </a:solidFill>
                <a:latin typeface="Poppins Semi-Bold"/>
                <a:ea typeface="Poppins Semi-Bold"/>
                <a:cs typeface="Poppins Semi-Bold"/>
                <a:sym typeface="Poppins Semi-Bold"/>
              </a:rPr>
              <a:t> Introduction</a:t>
            </a:r>
          </a:p>
        </p:txBody>
      </p:sp>
      <p:sp>
        <p:nvSpPr>
          <p:cNvPr id="8" name="TextBox 8"/>
          <p:cNvSpPr txBox="1"/>
          <p:nvPr/>
        </p:nvSpPr>
        <p:spPr>
          <a:xfrm>
            <a:off x="1452204" y="5411846"/>
            <a:ext cx="7662838" cy="3489325"/>
          </a:xfrm>
          <a:prstGeom prst="rect">
            <a:avLst/>
          </a:prstGeom>
        </p:spPr>
        <p:txBody>
          <a:bodyPr lIns="0" tIns="0" rIns="0" bIns="0" rtlCol="0" anchor="t">
            <a:spAutoFit/>
          </a:bodyPr>
          <a:lstStyle/>
          <a:p>
            <a:pPr algn="l">
              <a:lnSpc>
                <a:spcPts val="3499"/>
              </a:lnSpc>
            </a:pPr>
            <a:r>
              <a:rPr lang="en-US" sz="2499">
                <a:solidFill>
                  <a:srgbClr val="1E293B"/>
                </a:solidFill>
                <a:latin typeface="Open Sans"/>
                <a:ea typeface="Open Sans"/>
                <a:cs typeface="Open Sans"/>
                <a:sym typeface="Open Sans"/>
              </a:rPr>
              <a:t>The Subscription Tracking Application is a web-based system designed to help users manage all of their subscriptions in one place. Many people subscribe to services such as Netflix, Spotify, JioHotstar, cloud storage, gyms, and software platforms. Over time, it becomes difficult to remember renewal dates and total expenses, resulting in unnecessary payments.</a:t>
            </a:r>
          </a:p>
        </p:txBody>
      </p:sp>
      <p:sp>
        <p:nvSpPr>
          <p:cNvPr id="9" name="TextBox 9"/>
          <p:cNvSpPr txBox="1"/>
          <p:nvPr/>
        </p:nvSpPr>
        <p:spPr>
          <a:xfrm>
            <a:off x="10577537" y="2295525"/>
            <a:ext cx="7662838" cy="6994525"/>
          </a:xfrm>
          <a:prstGeom prst="rect">
            <a:avLst/>
          </a:prstGeom>
        </p:spPr>
        <p:txBody>
          <a:bodyPr lIns="0" tIns="0" rIns="0" bIns="0" rtlCol="0" anchor="t">
            <a:spAutoFit/>
          </a:bodyPr>
          <a:lstStyle/>
          <a:p>
            <a:pPr algn="l">
              <a:lnSpc>
                <a:spcPts val="3499"/>
              </a:lnSpc>
            </a:pPr>
            <a:r>
              <a:rPr lang="en-US" sz="2499" b="1">
                <a:solidFill>
                  <a:srgbClr val="1E293B"/>
                </a:solidFill>
                <a:latin typeface="Open Sans Bold"/>
                <a:ea typeface="Open Sans Bold"/>
                <a:cs typeface="Open Sans Bold"/>
                <a:sym typeface="Open Sans Bold"/>
              </a:rPr>
              <a:t>Objectives</a:t>
            </a:r>
          </a:p>
          <a:p>
            <a:pPr marL="539749" lvl="1" indent="-269875" algn="l">
              <a:lnSpc>
                <a:spcPts val="3499"/>
              </a:lnSpc>
              <a:buFont typeface="Arial"/>
              <a:buChar char="•"/>
            </a:pPr>
            <a:r>
              <a:rPr lang="en-US" sz="2499">
                <a:solidFill>
                  <a:srgbClr val="1E293B"/>
                </a:solidFill>
                <a:latin typeface="Open Sans"/>
                <a:ea typeface="Open Sans"/>
                <a:cs typeface="Open Sans"/>
                <a:sym typeface="Open Sans"/>
              </a:rPr>
              <a:t>Track all subscriptions in one application.</a:t>
            </a:r>
          </a:p>
          <a:p>
            <a:pPr marL="539749" lvl="1" indent="-269875" algn="l">
              <a:lnSpc>
                <a:spcPts val="3499"/>
              </a:lnSpc>
              <a:buFont typeface="Arial"/>
              <a:buChar char="•"/>
            </a:pPr>
            <a:r>
              <a:rPr lang="en-US" sz="2499">
                <a:solidFill>
                  <a:srgbClr val="1E293B"/>
                </a:solidFill>
                <a:latin typeface="Open Sans"/>
                <a:ea typeface="Open Sans"/>
                <a:cs typeface="Open Sans"/>
                <a:sym typeface="Open Sans"/>
              </a:rPr>
              <a:t>Display monthly and yearly subscription expenses.</a:t>
            </a:r>
          </a:p>
          <a:p>
            <a:pPr marL="539749" lvl="1" indent="-269875" algn="l">
              <a:lnSpc>
                <a:spcPts val="3499"/>
              </a:lnSpc>
              <a:buFont typeface="Arial"/>
              <a:buChar char="•"/>
            </a:pPr>
            <a:r>
              <a:rPr lang="en-US" sz="2499">
                <a:solidFill>
                  <a:srgbClr val="1E293B"/>
                </a:solidFill>
                <a:latin typeface="Open Sans"/>
                <a:ea typeface="Open Sans"/>
                <a:cs typeface="Open Sans"/>
                <a:sym typeface="Open Sans"/>
              </a:rPr>
              <a:t>Notify users about upcoming renewals.</a:t>
            </a:r>
          </a:p>
          <a:p>
            <a:pPr marL="539749" lvl="1" indent="-269875" algn="l">
              <a:lnSpc>
                <a:spcPts val="3499"/>
              </a:lnSpc>
              <a:buFont typeface="Arial"/>
              <a:buChar char="•"/>
            </a:pPr>
            <a:r>
              <a:rPr lang="en-US" sz="2499">
                <a:solidFill>
                  <a:srgbClr val="1E293B"/>
                </a:solidFill>
                <a:latin typeface="Open Sans"/>
                <a:ea typeface="Open Sans"/>
                <a:cs typeface="Open Sans"/>
                <a:sym typeface="Open Sans"/>
              </a:rPr>
              <a:t>Help users save money through better expense management.</a:t>
            </a:r>
          </a:p>
          <a:p>
            <a:pPr algn="l">
              <a:lnSpc>
                <a:spcPts val="3499"/>
              </a:lnSpc>
            </a:pPr>
            <a:endParaRPr lang="en-US" sz="2499">
              <a:solidFill>
                <a:srgbClr val="1E293B"/>
              </a:solidFill>
              <a:latin typeface="Open Sans"/>
              <a:ea typeface="Open Sans"/>
              <a:cs typeface="Open Sans"/>
              <a:sym typeface="Open Sans"/>
            </a:endParaRPr>
          </a:p>
          <a:p>
            <a:pPr algn="l">
              <a:lnSpc>
                <a:spcPts val="3499"/>
              </a:lnSpc>
            </a:pPr>
            <a:r>
              <a:rPr lang="en-US" sz="2499" b="1">
                <a:solidFill>
                  <a:srgbClr val="1E293B"/>
                </a:solidFill>
                <a:latin typeface="Open Sans Bold"/>
                <a:ea typeface="Open Sans Bold"/>
                <a:cs typeface="Open Sans Bold"/>
                <a:sym typeface="Open Sans Bold"/>
              </a:rPr>
              <a:t>Main Features</a:t>
            </a:r>
          </a:p>
          <a:p>
            <a:pPr marL="539749" lvl="1" indent="-269875" algn="l">
              <a:lnSpc>
                <a:spcPts val="3499"/>
              </a:lnSpc>
              <a:buFont typeface="Arial"/>
              <a:buChar char="•"/>
            </a:pPr>
            <a:r>
              <a:rPr lang="en-US" sz="2499">
                <a:solidFill>
                  <a:srgbClr val="1E293B"/>
                </a:solidFill>
                <a:latin typeface="Open Sans"/>
                <a:ea typeface="Open Sans"/>
                <a:cs typeface="Open Sans"/>
                <a:sym typeface="Open Sans"/>
              </a:rPr>
              <a:t>User Registration and Login</a:t>
            </a:r>
          </a:p>
          <a:p>
            <a:pPr marL="539749" lvl="1" indent="-269875" algn="l">
              <a:lnSpc>
                <a:spcPts val="3499"/>
              </a:lnSpc>
              <a:buFont typeface="Arial"/>
              <a:buChar char="•"/>
            </a:pPr>
            <a:r>
              <a:rPr lang="en-US" sz="2499">
                <a:solidFill>
                  <a:srgbClr val="1E293B"/>
                </a:solidFill>
                <a:latin typeface="Open Sans"/>
                <a:ea typeface="Open Sans"/>
                <a:cs typeface="Open Sans"/>
                <a:sym typeface="Open Sans"/>
              </a:rPr>
              <a:t>Subscription CRUD (Create, Read, Update, Delete)</a:t>
            </a:r>
          </a:p>
          <a:p>
            <a:pPr marL="539749" lvl="1" indent="-269875" algn="l">
              <a:lnSpc>
                <a:spcPts val="3499"/>
              </a:lnSpc>
              <a:buFont typeface="Arial"/>
              <a:buChar char="•"/>
            </a:pPr>
            <a:r>
              <a:rPr lang="en-US" sz="2499">
                <a:solidFill>
                  <a:srgbClr val="1E293B"/>
                </a:solidFill>
                <a:latin typeface="Open Sans"/>
                <a:ea typeface="Open Sans"/>
                <a:cs typeface="Open Sans"/>
                <a:sym typeface="Open Sans"/>
              </a:rPr>
              <a:t>Dashboard Analytics</a:t>
            </a:r>
          </a:p>
          <a:p>
            <a:pPr marL="539749" lvl="1" indent="-269875" algn="l">
              <a:lnSpc>
                <a:spcPts val="3499"/>
              </a:lnSpc>
              <a:buFont typeface="Arial"/>
              <a:buChar char="•"/>
            </a:pPr>
            <a:r>
              <a:rPr lang="en-US" sz="2499">
                <a:solidFill>
                  <a:srgbClr val="1E293B"/>
                </a:solidFill>
                <a:latin typeface="Open Sans"/>
                <a:ea typeface="Open Sans"/>
                <a:cs typeface="Open Sans"/>
                <a:sym typeface="Open Sans"/>
              </a:rPr>
              <a:t>Renewal Tracking</a:t>
            </a:r>
          </a:p>
          <a:p>
            <a:pPr marL="539749" lvl="1" indent="-269875" algn="l">
              <a:lnSpc>
                <a:spcPts val="3499"/>
              </a:lnSpc>
              <a:buFont typeface="Arial"/>
              <a:buChar char="•"/>
            </a:pPr>
            <a:r>
              <a:rPr lang="en-US" sz="2499">
                <a:solidFill>
                  <a:srgbClr val="1E293B"/>
                </a:solidFill>
                <a:latin typeface="Open Sans"/>
                <a:ea typeface="Open Sans"/>
                <a:cs typeface="Open Sans"/>
                <a:sym typeface="Open Sans"/>
              </a:rPr>
              <a:t>Secure Data Storage</a:t>
            </a:r>
          </a:p>
          <a:p>
            <a:pPr algn="l">
              <a:lnSpc>
                <a:spcPts val="3499"/>
              </a:lnSpc>
            </a:pPr>
            <a:endParaRPr lang="en-US" sz="2499">
              <a:solidFill>
                <a:srgbClr val="1E293B"/>
              </a:solidFill>
              <a:latin typeface="Open Sans"/>
              <a:ea typeface="Open Sans"/>
              <a:cs typeface="Open Sans"/>
              <a:sym typeface="Open Sans"/>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0" y="0"/>
            <a:ext cx="367633" cy="10287000"/>
            <a:chOff x="0" y="0"/>
            <a:chExt cx="96825" cy="2709333"/>
          </a:xfrm>
        </p:grpSpPr>
        <p:sp>
          <p:nvSpPr>
            <p:cNvPr id="3" name="Freeform 3"/>
            <p:cNvSpPr/>
            <p:nvPr/>
          </p:nvSpPr>
          <p:spPr>
            <a:xfrm>
              <a:off x="0" y="0"/>
              <a:ext cx="96825" cy="2709333"/>
            </a:xfrm>
            <a:custGeom>
              <a:avLst/>
              <a:gdLst/>
              <a:ahLst/>
              <a:cxnLst/>
              <a:rect l="l" t="t" r="r" b="b"/>
              <a:pathLst>
                <a:path w="96825" h="2709333">
                  <a:moveTo>
                    <a:pt x="0" y="0"/>
                  </a:moveTo>
                  <a:lnTo>
                    <a:pt x="96825" y="0"/>
                  </a:lnTo>
                  <a:lnTo>
                    <a:pt x="96825" y="2709333"/>
                  </a:lnTo>
                  <a:lnTo>
                    <a:pt x="0" y="2709333"/>
                  </a:lnTo>
                  <a:close/>
                </a:path>
              </a:pathLst>
            </a:custGeom>
            <a:gradFill rotWithShape="1">
              <a:gsLst>
                <a:gs pos="0">
                  <a:srgbClr val="60A5FA">
                    <a:alpha val="100000"/>
                  </a:srgbClr>
                </a:gs>
                <a:gs pos="100000">
                  <a:srgbClr val="FFFFFF">
                    <a:alpha val="100000"/>
                  </a:srgbClr>
                </a:gs>
              </a:gsLst>
              <a:lin ang="2700000"/>
            </a:gradFill>
          </p:spPr>
          <p:txBody>
            <a:bodyPr/>
            <a:lstStyle/>
            <a:p>
              <a:endParaRPr lang="en-IN"/>
            </a:p>
          </p:txBody>
        </p:sp>
        <p:sp>
          <p:nvSpPr>
            <p:cNvPr id="4" name="TextBox 4"/>
            <p:cNvSpPr txBox="1"/>
            <p:nvPr/>
          </p:nvSpPr>
          <p:spPr>
            <a:xfrm>
              <a:off x="0" y="-38100"/>
              <a:ext cx="968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1028700" y="891823"/>
            <a:ext cx="847008" cy="847008"/>
          </a:xfrm>
          <a:custGeom>
            <a:avLst/>
            <a:gdLst/>
            <a:ahLst/>
            <a:cxnLst/>
            <a:rect l="l" t="t" r="r" b="b"/>
            <a:pathLst>
              <a:path w="847008" h="847008">
                <a:moveTo>
                  <a:pt x="0" y="0"/>
                </a:moveTo>
                <a:lnTo>
                  <a:pt x="847008" y="0"/>
                </a:lnTo>
                <a:lnTo>
                  <a:pt x="847008" y="847008"/>
                </a:lnTo>
                <a:lnTo>
                  <a:pt x="0" y="84700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6" name="TextBox 6"/>
          <p:cNvSpPr txBox="1"/>
          <p:nvPr/>
        </p:nvSpPr>
        <p:spPr>
          <a:xfrm>
            <a:off x="2255701" y="1080396"/>
            <a:ext cx="6877908" cy="422275"/>
          </a:xfrm>
          <a:prstGeom prst="rect">
            <a:avLst/>
          </a:prstGeom>
        </p:spPr>
        <p:txBody>
          <a:bodyPr lIns="0" tIns="0" rIns="0" bIns="0" rtlCol="0" anchor="t">
            <a:spAutoFit/>
          </a:bodyPr>
          <a:lstStyle/>
          <a:p>
            <a:pPr algn="l">
              <a:lnSpc>
                <a:spcPts val="3499"/>
              </a:lnSpc>
            </a:pPr>
            <a:r>
              <a:rPr lang="en-US" sz="2499" b="1">
                <a:solidFill>
                  <a:srgbClr val="1E293B"/>
                </a:solidFill>
                <a:latin typeface="Open Sans Bold"/>
                <a:ea typeface="Open Sans Bold"/>
                <a:cs typeface="Open Sans Bold"/>
                <a:sym typeface="Open Sans Bold"/>
              </a:rPr>
              <a:t>Subscription Tracking Application </a:t>
            </a:r>
          </a:p>
        </p:txBody>
      </p:sp>
      <p:sp>
        <p:nvSpPr>
          <p:cNvPr id="7" name="TextBox 7"/>
          <p:cNvSpPr txBox="1"/>
          <p:nvPr/>
        </p:nvSpPr>
        <p:spPr>
          <a:xfrm>
            <a:off x="831912" y="2141011"/>
            <a:ext cx="13094312" cy="1128396"/>
          </a:xfrm>
          <a:prstGeom prst="rect">
            <a:avLst/>
          </a:prstGeom>
        </p:spPr>
        <p:txBody>
          <a:bodyPr lIns="0" tIns="0" rIns="0" bIns="0" rtlCol="0" anchor="t">
            <a:spAutoFit/>
          </a:bodyPr>
          <a:lstStyle/>
          <a:p>
            <a:pPr algn="l">
              <a:lnSpc>
                <a:spcPts val="7840"/>
              </a:lnSpc>
            </a:pPr>
            <a:r>
              <a:rPr lang="en-US" sz="8000" b="1">
                <a:solidFill>
                  <a:srgbClr val="1E293B"/>
                </a:solidFill>
                <a:latin typeface="Poppins Semi-Bold"/>
                <a:ea typeface="Poppins Semi-Bold"/>
                <a:cs typeface="Poppins Semi-Bold"/>
                <a:sym typeface="Poppins Semi-Bold"/>
              </a:rPr>
              <a:t> Organization Profile</a:t>
            </a:r>
          </a:p>
        </p:txBody>
      </p:sp>
      <p:sp>
        <p:nvSpPr>
          <p:cNvPr id="8" name="TextBox 8"/>
          <p:cNvSpPr txBox="1"/>
          <p:nvPr/>
        </p:nvSpPr>
        <p:spPr>
          <a:xfrm>
            <a:off x="1875708" y="3783921"/>
            <a:ext cx="7413649" cy="6834435"/>
          </a:xfrm>
          <a:prstGeom prst="rect">
            <a:avLst/>
          </a:prstGeom>
        </p:spPr>
        <p:txBody>
          <a:bodyPr lIns="0" tIns="0" rIns="0" bIns="0" rtlCol="0" anchor="t">
            <a:spAutoFit/>
          </a:bodyPr>
          <a:lstStyle/>
          <a:p>
            <a:pPr algn="l">
              <a:lnSpc>
                <a:spcPts val="3086"/>
              </a:lnSpc>
            </a:pPr>
            <a:r>
              <a:rPr lang="en-US" sz="2204" b="1" dirty="0">
                <a:solidFill>
                  <a:srgbClr val="1E293B"/>
                </a:solidFill>
                <a:latin typeface="Open Sans Bold"/>
                <a:ea typeface="Open Sans Bold"/>
                <a:cs typeface="Open Sans Bold"/>
                <a:sym typeface="Open Sans Bold"/>
              </a:rPr>
              <a:t>Project Name: </a:t>
            </a:r>
            <a:r>
              <a:rPr lang="en-US" sz="2204" dirty="0">
                <a:solidFill>
                  <a:srgbClr val="1E293B"/>
                </a:solidFill>
                <a:latin typeface="Open Sans"/>
                <a:ea typeface="Open Sans"/>
                <a:cs typeface="Open Sans"/>
                <a:sym typeface="Open Sans"/>
              </a:rPr>
              <a:t>Subscription Tracking Application</a:t>
            </a:r>
          </a:p>
          <a:p>
            <a:pPr algn="l">
              <a:lnSpc>
                <a:spcPts val="3086"/>
              </a:lnSpc>
            </a:pPr>
            <a:r>
              <a:rPr lang="en-US" sz="2204" b="1" dirty="0">
                <a:solidFill>
                  <a:srgbClr val="1E293B"/>
                </a:solidFill>
                <a:latin typeface="Open Sans Bold"/>
                <a:ea typeface="Open Sans Bold"/>
                <a:cs typeface="Open Sans Bold"/>
                <a:sym typeface="Open Sans Bold"/>
              </a:rPr>
              <a:t>Project Type: </a:t>
            </a:r>
            <a:r>
              <a:rPr lang="en-US" sz="2204" dirty="0">
                <a:solidFill>
                  <a:srgbClr val="1E293B"/>
                </a:solidFill>
                <a:latin typeface="Open Sans"/>
                <a:ea typeface="Open Sans"/>
                <a:cs typeface="Open Sans"/>
                <a:sym typeface="Open Sans"/>
              </a:rPr>
              <a:t>Web Application</a:t>
            </a:r>
          </a:p>
          <a:p>
            <a:pPr>
              <a:lnSpc>
                <a:spcPts val="3499"/>
              </a:lnSpc>
            </a:pPr>
            <a:r>
              <a:rPr lang="en-US" sz="2204" b="1" dirty="0">
                <a:solidFill>
                  <a:srgbClr val="1E293B"/>
                </a:solidFill>
                <a:latin typeface="Open Sans Bold"/>
                <a:ea typeface="Open Sans Bold"/>
                <a:cs typeface="Open Sans Bold"/>
                <a:sym typeface="Open Sans Bold"/>
              </a:rPr>
              <a:t>Developed By:</a:t>
            </a:r>
            <a:r>
              <a:rPr lang="en-US" sz="2204" dirty="0">
                <a:solidFill>
                  <a:srgbClr val="1E293B"/>
                </a:solidFill>
                <a:latin typeface="Open Sans"/>
                <a:ea typeface="Open Sans"/>
                <a:cs typeface="Open Sans"/>
                <a:sym typeface="Open Sans"/>
              </a:rPr>
              <a:t> </a:t>
            </a:r>
            <a:r>
              <a:rPr lang="en-US" sz="2400" dirty="0">
                <a:solidFill>
                  <a:srgbClr val="1E293B"/>
                </a:solidFill>
                <a:latin typeface="Open Sans"/>
                <a:ea typeface="Open Sans"/>
                <a:cs typeface="Open Sans"/>
                <a:sym typeface="Open Sans"/>
              </a:rPr>
              <a:t>Ankit </a:t>
            </a:r>
            <a:r>
              <a:rPr lang="en-US" sz="2400" dirty="0" err="1">
                <a:solidFill>
                  <a:srgbClr val="1E293B"/>
                </a:solidFill>
                <a:latin typeface="Open Sans"/>
                <a:ea typeface="Open Sans"/>
                <a:cs typeface="Open Sans"/>
                <a:sym typeface="Open Sans"/>
              </a:rPr>
              <a:t>Aryan,Shasank</a:t>
            </a:r>
            <a:r>
              <a:rPr lang="en-US" sz="2400" dirty="0">
                <a:solidFill>
                  <a:srgbClr val="1E293B"/>
                </a:solidFill>
                <a:latin typeface="Open Sans"/>
                <a:ea typeface="Open Sans"/>
                <a:cs typeface="Open Sans"/>
                <a:sym typeface="Open Sans"/>
              </a:rPr>
              <a:t> M </a:t>
            </a:r>
            <a:r>
              <a:rPr lang="en-US" sz="2400" dirty="0" err="1">
                <a:solidFill>
                  <a:srgbClr val="1E293B"/>
                </a:solidFill>
                <a:latin typeface="Open Sans"/>
                <a:ea typeface="Open Sans"/>
                <a:cs typeface="Open Sans"/>
                <a:sym typeface="Open Sans"/>
              </a:rPr>
              <a:t>Shah,Puneet</a:t>
            </a:r>
            <a:r>
              <a:rPr lang="en-US" sz="2400" dirty="0">
                <a:solidFill>
                  <a:srgbClr val="1E293B"/>
                </a:solidFill>
                <a:latin typeface="Open Sans"/>
                <a:ea typeface="Open Sans"/>
                <a:cs typeface="Open Sans"/>
                <a:sym typeface="Open Sans"/>
              </a:rPr>
              <a:t> Solanki</a:t>
            </a:r>
            <a:r>
              <a:rPr lang="en-US" sz="2204" dirty="0">
                <a:solidFill>
                  <a:srgbClr val="1E293B"/>
                </a:solidFill>
                <a:latin typeface="Open Sans"/>
                <a:ea typeface="Open Sans"/>
                <a:cs typeface="Open Sans"/>
                <a:sym typeface="Open Sans"/>
              </a:rPr>
              <a:t>(MCA Mini Project)</a:t>
            </a:r>
          </a:p>
          <a:p>
            <a:pPr algn="l">
              <a:lnSpc>
                <a:spcPts val="3086"/>
              </a:lnSpc>
            </a:pPr>
            <a:endParaRPr lang="en-US" sz="2204" dirty="0">
              <a:solidFill>
                <a:srgbClr val="1E293B"/>
              </a:solidFill>
              <a:latin typeface="Open Sans"/>
              <a:ea typeface="Open Sans"/>
              <a:cs typeface="Open Sans"/>
              <a:sym typeface="Open Sans"/>
            </a:endParaRPr>
          </a:p>
          <a:p>
            <a:pPr algn="l">
              <a:lnSpc>
                <a:spcPts val="3086"/>
              </a:lnSpc>
            </a:pPr>
            <a:r>
              <a:rPr lang="en-US" sz="2204" b="1" dirty="0">
                <a:solidFill>
                  <a:srgbClr val="1E293B"/>
                </a:solidFill>
                <a:latin typeface="Open Sans Bold"/>
                <a:ea typeface="Open Sans Bold"/>
                <a:cs typeface="Open Sans Bold"/>
                <a:sym typeface="Open Sans Bold"/>
              </a:rPr>
              <a:t>Technology Stack</a:t>
            </a:r>
          </a:p>
          <a:p>
            <a:pPr marL="475982" lvl="1" indent="-237991" algn="l">
              <a:lnSpc>
                <a:spcPts val="3086"/>
              </a:lnSpc>
              <a:buFont typeface="Arial"/>
              <a:buChar char="•"/>
            </a:pPr>
            <a:r>
              <a:rPr lang="en-US" sz="2204" dirty="0">
                <a:solidFill>
                  <a:srgbClr val="1E293B"/>
                </a:solidFill>
                <a:latin typeface="Open Sans"/>
                <a:ea typeface="Open Sans"/>
                <a:cs typeface="Open Sans"/>
                <a:sym typeface="Open Sans"/>
              </a:rPr>
              <a:t>Frontend: HTML, CSS, Bootstrap, JSP</a:t>
            </a:r>
          </a:p>
          <a:p>
            <a:pPr marL="475982" lvl="1" indent="-237991" algn="l">
              <a:lnSpc>
                <a:spcPts val="3086"/>
              </a:lnSpc>
              <a:buFont typeface="Arial"/>
              <a:buChar char="•"/>
            </a:pPr>
            <a:r>
              <a:rPr lang="en-US" sz="2204" dirty="0">
                <a:solidFill>
                  <a:srgbClr val="1E293B"/>
                </a:solidFill>
                <a:latin typeface="Open Sans"/>
                <a:ea typeface="Open Sans"/>
                <a:cs typeface="Open Sans"/>
                <a:sym typeface="Open Sans"/>
              </a:rPr>
              <a:t>Backend: Java Servlets</a:t>
            </a:r>
          </a:p>
          <a:p>
            <a:pPr marL="475982" lvl="1" indent="-237991" algn="l">
              <a:lnSpc>
                <a:spcPts val="3086"/>
              </a:lnSpc>
              <a:buFont typeface="Arial"/>
              <a:buChar char="•"/>
            </a:pPr>
            <a:r>
              <a:rPr lang="en-US" sz="2204" dirty="0">
                <a:solidFill>
                  <a:srgbClr val="1E293B"/>
                </a:solidFill>
                <a:latin typeface="Open Sans"/>
                <a:ea typeface="Open Sans"/>
                <a:cs typeface="Open Sans"/>
                <a:sym typeface="Open Sans"/>
              </a:rPr>
              <a:t>Database: MySQL</a:t>
            </a:r>
          </a:p>
          <a:p>
            <a:pPr marL="475982" lvl="1" indent="-237991" algn="l">
              <a:lnSpc>
                <a:spcPts val="3086"/>
              </a:lnSpc>
              <a:buFont typeface="Arial"/>
              <a:buChar char="•"/>
            </a:pPr>
            <a:r>
              <a:rPr lang="en-US" sz="2204" dirty="0">
                <a:solidFill>
                  <a:srgbClr val="1E293B"/>
                </a:solidFill>
                <a:latin typeface="Open Sans"/>
                <a:ea typeface="Open Sans"/>
                <a:cs typeface="Open Sans"/>
                <a:sym typeface="Open Sans"/>
              </a:rPr>
              <a:t>Server: Apache Tomcat</a:t>
            </a:r>
          </a:p>
          <a:p>
            <a:pPr marL="475982" lvl="1" indent="-237991" algn="l">
              <a:lnSpc>
                <a:spcPts val="3086"/>
              </a:lnSpc>
              <a:buFont typeface="Arial"/>
              <a:buChar char="•"/>
            </a:pPr>
            <a:endParaRPr lang="en-US" sz="2204" dirty="0">
              <a:solidFill>
                <a:srgbClr val="1E293B"/>
              </a:solidFill>
              <a:latin typeface="Open Sans"/>
              <a:ea typeface="Open Sans"/>
              <a:cs typeface="Open Sans"/>
              <a:sym typeface="Open Sans"/>
            </a:endParaRPr>
          </a:p>
          <a:p>
            <a:pPr algn="l">
              <a:lnSpc>
                <a:spcPts val="3086"/>
              </a:lnSpc>
            </a:pPr>
            <a:r>
              <a:rPr lang="en-US" sz="2204" b="1" dirty="0">
                <a:solidFill>
                  <a:srgbClr val="1E293B"/>
                </a:solidFill>
                <a:latin typeface="Open Sans Bold"/>
                <a:ea typeface="Open Sans Bold"/>
                <a:cs typeface="Open Sans Bold"/>
                <a:sym typeface="Open Sans Bold"/>
              </a:rPr>
              <a:t>Target Users</a:t>
            </a:r>
          </a:p>
          <a:p>
            <a:pPr marL="475982" lvl="1" indent="-237991" algn="l">
              <a:lnSpc>
                <a:spcPts val="3086"/>
              </a:lnSpc>
              <a:buFont typeface="Arial"/>
              <a:buChar char="•"/>
            </a:pPr>
            <a:r>
              <a:rPr lang="en-US" sz="2204" dirty="0">
                <a:solidFill>
                  <a:srgbClr val="1E293B"/>
                </a:solidFill>
                <a:latin typeface="Open Sans"/>
                <a:ea typeface="Open Sans"/>
                <a:cs typeface="Open Sans"/>
                <a:sym typeface="Open Sans"/>
              </a:rPr>
              <a:t>Students</a:t>
            </a:r>
          </a:p>
          <a:p>
            <a:pPr marL="475982" lvl="1" indent="-237991" algn="l">
              <a:lnSpc>
                <a:spcPts val="3086"/>
              </a:lnSpc>
              <a:buFont typeface="Arial"/>
              <a:buChar char="•"/>
            </a:pPr>
            <a:r>
              <a:rPr lang="en-US" sz="2204" dirty="0">
                <a:solidFill>
                  <a:srgbClr val="1E293B"/>
                </a:solidFill>
                <a:latin typeface="Open Sans"/>
                <a:ea typeface="Open Sans"/>
                <a:cs typeface="Open Sans"/>
                <a:sym typeface="Open Sans"/>
              </a:rPr>
              <a:t>Working professionals</a:t>
            </a:r>
          </a:p>
          <a:p>
            <a:pPr marL="475982" lvl="1" indent="-237991" algn="l">
              <a:lnSpc>
                <a:spcPts val="3086"/>
              </a:lnSpc>
              <a:buFont typeface="Arial"/>
              <a:buChar char="•"/>
            </a:pPr>
            <a:r>
              <a:rPr lang="en-US" sz="2204" dirty="0">
                <a:solidFill>
                  <a:srgbClr val="1E293B"/>
                </a:solidFill>
                <a:latin typeface="Open Sans"/>
                <a:ea typeface="Open Sans"/>
                <a:cs typeface="Open Sans"/>
                <a:sym typeface="Open Sans"/>
              </a:rPr>
              <a:t>Families</a:t>
            </a:r>
          </a:p>
          <a:p>
            <a:pPr marL="475982" lvl="1" indent="-237991" algn="l">
              <a:lnSpc>
                <a:spcPts val="3086"/>
              </a:lnSpc>
              <a:buFont typeface="Arial"/>
              <a:buChar char="•"/>
            </a:pPr>
            <a:r>
              <a:rPr lang="en-US" sz="2204" dirty="0">
                <a:solidFill>
                  <a:srgbClr val="1E293B"/>
                </a:solidFill>
                <a:latin typeface="Open Sans"/>
                <a:ea typeface="Open Sans"/>
                <a:cs typeface="Open Sans"/>
                <a:sym typeface="Open Sans"/>
              </a:rPr>
              <a:t>Small businesses</a:t>
            </a:r>
          </a:p>
          <a:p>
            <a:pPr algn="l">
              <a:lnSpc>
                <a:spcPts val="3086"/>
              </a:lnSpc>
            </a:pPr>
            <a:endParaRPr lang="en-US" sz="2204" dirty="0">
              <a:solidFill>
                <a:srgbClr val="1E293B"/>
              </a:solidFill>
              <a:latin typeface="Open Sans"/>
              <a:ea typeface="Open Sans"/>
              <a:cs typeface="Open Sans"/>
              <a:sym typeface="Open Sans"/>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0" y="0"/>
            <a:ext cx="367633" cy="10287000"/>
            <a:chOff x="0" y="0"/>
            <a:chExt cx="96825" cy="2709333"/>
          </a:xfrm>
        </p:grpSpPr>
        <p:sp>
          <p:nvSpPr>
            <p:cNvPr id="3" name="Freeform 3"/>
            <p:cNvSpPr/>
            <p:nvPr/>
          </p:nvSpPr>
          <p:spPr>
            <a:xfrm>
              <a:off x="0" y="0"/>
              <a:ext cx="96825" cy="2709333"/>
            </a:xfrm>
            <a:custGeom>
              <a:avLst/>
              <a:gdLst/>
              <a:ahLst/>
              <a:cxnLst/>
              <a:rect l="l" t="t" r="r" b="b"/>
              <a:pathLst>
                <a:path w="96825" h="2709333">
                  <a:moveTo>
                    <a:pt x="0" y="0"/>
                  </a:moveTo>
                  <a:lnTo>
                    <a:pt x="96825" y="0"/>
                  </a:lnTo>
                  <a:lnTo>
                    <a:pt x="96825" y="2709333"/>
                  </a:lnTo>
                  <a:lnTo>
                    <a:pt x="0" y="2709333"/>
                  </a:lnTo>
                  <a:close/>
                </a:path>
              </a:pathLst>
            </a:custGeom>
            <a:gradFill rotWithShape="1">
              <a:gsLst>
                <a:gs pos="0">
                  <a:srgbClr val="60A5FA">
                    <a:alpha val="100000"/>
                  </a:srgbClr>
                </a:gs>
                <a:gs pos="100000">
                  <a:srgbClr val="FFFFFF">
                    <a:alpha val="100000"/>
                  </a:srgbClr>
                </a:gs>
              </a:gsLst>
              <a:lin ang="2700000"/>
            </a:gradFill>
          </p:spPr>
          <p:txBody>
            <a:bodyPr/>
            <a:lstStyle/>
            <a:p>
              <a:endParaRPr lang="en-IN"/>
            </a:p>
          </p:txBody>
        </p:sp>
        <p:sp>
          <p:nvSpPr>
            <p:cNvPr id="4" name="TextBox 4"/>
            <p:cNvSpPr txBox="1"/>
            <p:nvPr/>
          </p:nvSpPr>
          <p:spPr>
            <a:xfrm>
              <a:off x="0" y="-38100"/>
              <a:ext cx="968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1028700" y="891823"/>
            <a:ext cx="847008" cy="847008"/>
          </a:xfrm>
          <a:custGeom>
            <a:avLst/>
            <a:gdLst/>
            <a:ahLst/>
            <a:cxnLst/>
            <a:rect l="l" t="t" r="r" b="b"/>
            <a:pathLst>
              <a:path w="847008" h="847008">
                <a:moveTo>
                  <a:pt x="0" y="0"/>
                </a:moveTo>
                <a:lnTo>
                  <a:pt x="847008" y="0"/>
                </a:lnTo>
                <a:lnTo>
                  <a:pt x="847008" y="847008"/>
                </a:lnTo>
                <a:lnTo>
                  <a:pt x="0" y="84700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6" name="TextBox 6"/>
          <p:cNvSpPr txBox="1"/>
          <p:nvPr/>
        </p:nvSpPr>
        <p:spPr>
          <a:xfrm>
            <a:off x="2166419" y="1080377"/>
            <a:ext cx="6694854" cy="422275"/>
          </a:xfrm>
          <a:prstGeom prst="rect">
            <a:avLst/>
          </a:prstGeom>
        </p:spPr>
        <p:txBody>
          <a:bodyPr lIns="0" tIns="0" rIns="0" bIns="0" rtlCol="0" anchor="t">
            <a:spAutoFit/>
          </a:bodyPr>
          <a:lstStyle/>
          <a:p>
            <a:pPr algn="l">
              <a:lnSpc>
                <a:spcPts val="3499"/>
              </a:lnSpc>
            </a:pPr>
            <a:r>
              <a:rPr lang="en-US" sz="2499" b="1">
                <a:solidFill>
                  <a:srgbClr val="1E293B"/>
                </a:solidFill>
                <a:latin typeface="Open Sans Bold"/>
                <a:ea typeface="Open Sans Bold"/>
                <a:cs typeface="Open Sans Bold"/>
                <a:sym typeface="Open Sans Bold"/>
              </a:rPr>
              <a:t>Subscription Tracking Application </a:t>
            </a:r>
          </a:p>
        </p:txBody>
      </p:sp>
      <p:sp>
        <p:nvSpPr>
          <p:cNvPr id="7" name="TextBox 7"/>
          <p:cNvSpPr txBox="1"/>
          <p:nvPr/>
        </p:nvSpPr>
        <p:spPr>
          <a:xfrm>
            <a:off x="1028700" y="2226019"/>
            <a:ext cx="8466511" cy="1128396"/>
          </a:xfrm>
          <a:prstGeom prst="rect">
            <a:avLst/>
          </a:prstGeom>
        </p:spPr>
        <p:txBody>
          <a:bodyPr lIns="0" tIns="0" rIns="0" bIns="0" rtlCol="0" anchor="t">
            <a:spAutoFit/>
          </a:bodyPr>
          <a:lstStyle/>
          <a:p>
            <a:pPr algn="l">
              <a:lnSpc>
                <a:spcPts val="7840"/>
              </a:lnSpc>
            </a:pPr>
            <a:r>
              <a:rPr lang="en-US" sz="8000" b="1">
                <a:solidFill>
                  <a:srgbClr val="1E293B"/>
                </a:solidFill>
                <a:latin typeface="Poppins Semi-Bold"/>
                <a:ea typeface="Poppins Semi-Bold"/>
                <a:cs typeface="Poppins Semi-Bold"/>
                <a:sym typeface="Poppins Semi-Bold"/>
              </a:rPr>
              <a:t>Existing System</a:t>
            </a:r>
          </a:p>
        </p:txBody>
      </p:sp>
      <p:sp>
        <p:nvSpPr>
          <p:cNvPr id="8" name="TextBox 8"/>
          <p:cNvSpPr txBox="1"/>
          <p:nvPr/>
        </p:nvSpPr>
        <p:spPr>
          <a:xfrm>
            <a:off x="1452204" y="3316315"/>
            <a:ext cx="6977012" cy="6762186"/>
          </a:xfrm>
          <a:prstGeom prst="rect">
            <a:avLst/>
          </a:prstGeom>
        </p:spPr>
        <p:txBody>
          <a:bodyPr lIns="0" tIns="0" rIns="0" bIns="0" rtlCol="0" anchor="t">
            <a:spAutoFit/>
          </a:bodyPr>
          <a:lstStyle/>
          <a:p>
            <a:pPr algn="l">
              <a:lnSpc>
                <a:spcPts val="3186"/>
              </a:lnSpc>
            </a:pPr>
            <a:r>
              <a:rPr lang="en-US" sz="2276">
                <a:solidFill>
                  <a:srgbClr val="1E293B"/>
                </a:solidFill>
                <a:latin typeface="Open Sans"/>
                <a:ea typeface="Open Sans"/>
                <a:cs typeface="Open Sans"/>
                <a:sym typeface="Open Sans"/>
              </a:rPr>
              <a:t>At present, there is no single platform where users can manage all their subscriptions.</a:t>
            </a:r>
          </a:p>
          <a:p>
            <a:pPr algn="l">
              <a:lnSpc>
                <a:spcPts val="3186"/>
              </a:lnSpc>
            </a:pPr>
            <a:endParaRPr lang="en-US" sz="2276">
              <a:solidFill>
                <a:srgbClr val="1E293B"/>
              </a:solidFill>
              <a:latin typeface="Open Sans"/>
              <a:ea typeface="Open Sans"/>
              <a:cs typeface="Open Sans"/>
              <a:sym typeface="Open Sans"/>
            </a:endParaRPr>
          </a:p>
          <a:p>
            <a:pPr algn="l">
              <a:lnSpc>
                <a:spcPts val="3186"/>
              </a:lnSpc>
            </a:pPr>
            <a:r>
              <a:rPr lang="en-US" sz="2276" b="1">
                <a:solidFill>
                  <a:srgbClr val="1E293B"/>
                </a:solidFill>
                <a:latin typeface="Open Sans Bold"/>
                <a:ea typeface="Open Sans Bold"/>
                <a:cs typeface="Open Sans Bold"/>
                <a:sym typeface="Open Sans Bold"/>
              </a:rPr>
              <a:t>People generally use:</a:t>
            </a:r>
          </a:p>
          <a:p>
            <a:pPr marL="491442" lvl="1" indent="-245721" algn="l">
              <a:lnSpc>
                <a:spcPts val="3186"/>
              </a:lnSpc>
              <a:buFont typeface="Arial"/>
              <a:buChar char="•"/>
            </a:pPr>
            <a:r>
              <a:rPr lang="en-US" sz="2276">
                <a:solidFill>
                  <a:srgbClr val="1E293B"/>
                </a:solidFill>
                <a:latin typeface="Open Sans"/>
                <a:ea typeface="Open Sans"/>
                <a:cs typeface="Open Sans"/>
                <a:sym typeface="Open Sans"/>
              </a:rPr>
              <a:t>Mobile reminders</a:t>
            </a:r>
          </a:p>
          <a:p>
            <a:pPr marL="491442" lvl="1" indent="-245721" algn="l">
              <a:lnSpc>
                <a:spcPts val="3186"/>
              </a:lnSpc>
              <a:buFont typeface="Arial"/>
              <a:buChar char="•"/>
            </a:pPr>
            <a:r>
              <a:rPr lang="en-US" sz="2276">
                <a:solidFill>
                  <a:srgbClr val="1E293B"/>
                </a:solidFill>
                <a:latin typeface="Open Sans"/>
                <a:ea typeface="Open Sans"/>
                <a:cs typeface="Open Sans"/>
                <a:sym typeface="Open Sans"/>
              </a:rPr>
              <a:t>Calendar applications</a:t>
            </a:r>
          </a:p>
          <a:p>
            <a:pPr marL="491442" lvl="1" indent="-245721" algn="l">
              <a:lnSpc>
                <a:spcPts val="3186"/>
              </a:lnSpc>
              <a:buFont typeface="Arial"/>
              <a:buChar char="•"/>
            </a:pPr>
            <a:r>
              <a:rPr lang="en-US" sz="2276">
                <a:solidFill>
                  <a:srgbClr val="1E293B"/>
                </a:solidFill>
                <a:latin typeface="Open Sans"/>
                <a:ea typeface="Open Sans"/>
                <a:cs typeface="Open Sans"/>
                <a:sym typeface="Open Sans"/>
              </a:rPr>
              <a:t>Paper notes</a:t>
            </a:r>
          </a:p>
          <a:p>
            <a:pPr marL="491442" lvl="1" indent="-245721" algn="l">
              <a:lnSpc>
                <a:spcPts val="3186"/>
              </a:lnSpc>
              <a:buFont typeface="Arial"/>
              <a:buChar char="•"/>
            </a:pPr>
            <a:r>
              <a:rPr lang="en-US" sz="2276">
                <a:solidFill>
                  <a:srgbClr val="1E293B"/>
                </a:solidFill>
                <a:latin typeface="Open Sans"/>
                <a:ea typeface="Open Sans"/>
                <a:cs typeface="Open Sans"/>
                <a:sym typeface="Open Sans"/>
              </a:rPr>
              <a:t>Excel spreadsheets</a:t>
            </a:r>
          </a:p>
          <a:p>
            <a:pPr marL="491442" lvl="1" indent="-245721" algn="l">
              <a:lnSpc>
                <a:spcPts val="3186"/>
              </a:lnSpc>
              <a:buFont typeface="Arial"/>
              <a:buChar char="•"/>
            </a:pPr>
            <a:r>
              <a:rPr lang="en-US" sz="2276">
                <a:solidFill>
                  <a:srgbClr val="1E293B"/>
                </a:solidFill>
                <a:latin typeface="Open Sans"/>
                <a:ea typeface="Open Sans"/>
                <a:cs typeface="Open Sans"/>
                <a:sym typeface="Open Sans"/>
              </a:rPr>
              <a:t>Memory</a:t>
            </a:r>
          </a:p>
          <a:p>
            <a:pPr marL="491442" lvl="1" indent="-245721" algn="l">
              <a:lnSpc>
                <a:spcPts val="3186"/>
              </a:lnSpc>
              <a:buFont typeface="Arial"/>
              <a:buChar char="•"/>
            </a:pPr>
            <a:endParaRPr lang="en-US" sz="2276">
              <a:solidFill>
                <a:srgbClr val="1E293B"/>
              </a:solidFill>
              <a:latin typeface="Open Sans"/>
              <a:ea typeface="Open Sans"/>
              <a:cs typeface="Open Sans"/>
              <a:sym typeface="Open Sans"/>
            </a:endParaRPr>
          </a:p>
          <a:p>
            <a:pPr algn="l">
              <a:lnSpc>
                <a:spcPts val="3186"/>
              </a:lnSpc>
            </a:pPr>
            <a:r>
              <a:rPr lang="en-US" sz="2276" b="1">
                <a:solidFill>
                  <a:srgbClr val="1E293B"/>
                </a:solidFill>
                <a:latin typeface="Open Sans Bold"/>
                <a:ea typeface="Open Sans Bold"/>
                <a:cs typeface="Open Sans Bold"/>
                <a:sym typeface="Open Sans Bold"/>
              </a:rPr>
              <a:t>Disadvantages</a:t>
            </a:r>
          </a:p>
          <a:p>
            <a:pPr marL="491442" lvl="1" indent="-245721" algn="l">
              <a:lnSpc>
                <a:spcPts val="3186"/>
              </a:lnSpc>
              <a:buFont typeface="Arial"/>
              <a:buChar char="•"/>
            </a:pPr>
            <a:r>
              <a:rPr lang="en-US" sz="2276">
                <a:solidFill>
                  <a:srgbClr val="1E293B"/>
                </a:solidFill>
                <a:latin typeface="Open Sans"/>
                <a:ea typeface="Open Sans"/>
                <a:cs typeface="Open Sans"/>
                <a:sym typeface="Open Sans"/>
              </a:rPr>
              <a:t>Information is scattered.</a:t>
            </a:r>
          </a:p>
          <a:p>
            <a:pPr marL="491442" lvl="1" indent="-245721" algn="l">
              <a:lnSpc>
                <a:spcPts val="3186"/>
              </a:lnSpc>
              <a:buFont typeface="Arial"/>
              <a:buChar char="•"/>
            </a:pPr>
            <a:r>
              <a:rPr lang="en-US" sz="2276">
                <a:solidFill>
                  <a:srgbClr val="1E293B"/>
                </a:solidFill>
                <a:latin typeface="Open Sans"/>
                <a:ea typeface="Open Sans"/>
                <a:cs typeface="Open Sans"/>
                <a:sym typeface="Open Sans"/>
              </a:rPr>
              <a:t>Users forget renewal dates.</a:t>
            </a:r>
          </a:p>
          <a:p>
            <a:pPr marL="491442" lvl="1" indent="-245721" algn="l">
              <a:lnSpc>
                <a:spcPts val="3186"/>
              </a:lnSpc>
              <a:buFont typeface="Arial"/>
              <a:buChar char="•"/>
            </a:pPr>
            <a:r>
              <a:rPr lang="en-US" sz="2276">
                <a:solidFill>
                  <a:srgbClr val="1E293B"/>
                </a:solidFill>
                <a:latin typeface="Open Sans"/>
                <a:ea typeface="Open Sans"/>
                <a:cs typeface="Open Sans"/>
                <a:sym typeface="Open Sans"/>
              </a:rPr>
              <a:t>Difficult to calculate expenses.</a:t>
            </a:r>
          </a:p>
          <a:p>
            <a:pPr marL="491442" lvl="1" indent="-245721" algn="l">
              <a:lnSpc>
                <a:spcPts val="3186"/>
              </a:lnSpc>
              <a:buFont typeface="Arial"/>
              <a:buChar char="•"/>
            </a:pPr>
            <a:r>
              <a:rPr lang="en-US" sz="2276">
                <a:solidFill>
                  <a:srgbClr val="1E293B"/>
                </a:solidFill>
                <a:latin typeface="Open Sans"/>
                <a:ea typeface="Open Sans"/>
                <a:cs typeface="Open Sans"/>
                <a:sym typeface="Open Sans"/>
              </a:rPr>
              <a:t>No analytics or reports.</a:t>
            </a:r>
          </a:p>
          <a:p>
            <a:pPr marL="491442" lvl="1" indent="-245721" algn="l">
              <a:lnSpc>
                <a:spcPts val="3186"/>
              </a:lnSpc>
              <a:buFont typeface="Arial"/>
              <a:buChar char="•"/>
            </a:pPr>
            <a:r>
              <a:rPr lang="en-US" sz="2276">
                <a:solidFill>
                  <a:srgbClr val="1E293B"/>
                </a:solidFill>
                <a:latin typeface="Open Sans"/>
                <a:ea typeface="Open Sans"/>
                <a:cs typeface="Open Sans"/>
                <a:sym typeface="Open Sans"/>
              </a:rPr>
              <a:t>No centralized dashboard.</a:t>
            </a:r>
          </a:p>
          <a:p>
            <a:pPr algn="l">
              <a:lnSpc>
                <a:spcPts val="3186"/>
              </a:lnSpc>
            </a:pPr>
            <a:endParaRPr lang="en-US" sz="2276">
              <a:solidFill>
                <a:srgbClr val="1E293B"/>
              </a:solidFill>
              <a:latin typeface="Open Sans"/>
              <a:ea typeface="Open Sans"/>
              <a:cs typeface="Open Sans"/>
              <a:sym typeface="Open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0" y="0"/>
            <a:ext cx="367633" cy="10287000"/>
            <a:chOff x="0" y="0"/>
            <a:chExt cx="96825" cy="2709333"/>
          </a:xfrm>
        </p:grpSpPr>
        <p:sp>
          <p:nvSpPr>
            <p:cNvPr id="3" name="Freeform 3"/>
            <p:cNvSpPr/>
            <p:nvPr/>
          </p:nvSpPr>
          <p:spPr>
            <a:xfrm>
              <a:off x="0" y="0"/>
              <a:ext cx="96825" cy="2709333"/>
            </a:xfrm>
            <a:custGeom>
              <a:avLst/>
              <a:gdLst/>
              <a:ahLst/>
              <a:cxnLst/>
              <a:rect l="l" t="t" r="r" b="b"/>
              <a:pathLst>
                <a:path w="96825" h="2709333">
                  <a:moveTo>
                    <a:pt x="0" y="0"/>
                  </a:moveTo>
                  <a:lnTo>
                    <a:pt x="96825" y="0"/>
                  </a:lnTo>
                  <a:lnTo>
                    <a:pt x="96825" y="2709333"/>
                  </a:lnTo>
                  <a:lnTo>
                    <a:pt x="0" y="2709333"/>
                  </a:lnTo>
                  <a:close/>
                </a:path>
              </a:pathLst>
            </a:custGeom>
            <a:gradFill rotWithShape="1">
              <a:gsLst>
                <a:gs pos="0">
                  <a:srgbClr val="60A5FA">
                    <a:alpha val="100000"/>
                  </a:srgbClr>
                </a:gs>
                <a:gs pos="100000">
                  <a:srgbClr val="FFFFFF">
                    <a:alpha val="100000"/>
                  </a:srgbClr>
                </a:gs>
              </a:gsLst>
              <a:lin ang="2700000"/>
            </a:gradFill>
          </p:spPr>
          <p:txBody>
            <a:bodyPr/>
            <a:lstStyle/>
            <a:p>
              <a:endParaRPr lang="en-IN"/>
            </a:p>
          </p:txBody>
        </p:sp>
        <p:sp>
          <p:nvSpPr>
            <p:cNvPr id="4" name="TextBox 4"/>
            <p:cNvSpPr txBox="1"/>
            <p:nvPr/>
          </p:nvSpPr>
          <p:spPr>
            <a:xfrm>
              <a:off x="0" y="-38100"/>
              <a:ext cx="968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1028700" y="891823"/>
            <a:ext cx="847008" cy="847008"/>
          </a:xfrm>
          <a:custGeom>
            <a:avLst/>
            <a:gdLst/>
            <a:ahLst/>
            <a:cxnLst/>
            <a:rect l="l" t="t" r="r" b="b"/>
            <a:pathLst>
              <a:path w="847008" h="847008">
                <a:moveTo>
                  <a:pt x="0" y="0"/>
                </a:moveTo>
                <a:lnTo>
                  <a:pt x="847008" y="0"/>
                </a:lnTo>
                <a:lnTo>
                  <a:pt x="847008" y="847008"/>
                </a:lnTo>
                <a:lnTo>
                  <a:pt x="0" y="84700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6" name="TextBox 6"/>
          <p:cNvSpPr txBox="1"/>
          <p:nvPr/>
        </p:nvSpPr>
        <p:spPr>
          <a:xfrm>
            <a:off x="2274751" y="1080396"/>
            <a:ext cx="6386855" cy="422275"/>
          </a:xfrm>
          <a:prstGeom prst="rect">
            <a:avLst/>
          </a:prstGeom>
        </p:spPr>
        <p:txBody>
          <a:bodyPr lIns="0" tIns="0" rIns="0" bIns="0" rtlCol="0" anchor="t">
            <a:spAutoFit/>
          </a:bodyPr>
          <a:lstStyle/>
          <a:p>
            <a:pPr algn="l">
              <a:lnSpc>
                <a:spcPts val="3499"/>
              </a:lnSpc>
            </a:pPr>
            <a:r>
              <a:rPr lang="en-US" sz="2499" b="1">
                <a:solidFill>
                  <a:srgbClr val="1E293B"/>
                </a:solidFill>
                <a:latin typeface="Open Sans Bold"/>
                <a:ea typeface="Open Sans Bold"/>
                <a:cs typeface="Open Sans Bold"/>
                <a:sym typeface="Open Sans Bold"/>
              </a:rPr>
              <a:t>Subscription Tracking Application </a:t>
            </a:r>
          </a:p>
        </p:txBody>
      </p:sp>
      <p:sp>
        <p:nvSpPr>
          <p:cNvPr id="7" name="TextBox 7"/>
          <p:cNvSpPr txBox="1"/>
          <p:nvPr/>
        </p:nvSpPr>
        <p:spPr>
          <a:xfrm>
            <a:off x="1028700" y="2226019"/>
            <a:ext cx="17259300" cy="1128396"/>
          </a:xfrm>
          <a:prstGeom prst="rect">
            <a:avLst/>
          </a:prstGeom>
        </p:spPr>
        <p:txBody>
          <a:bodyPr lIns="0" tIns="0" rIns="0" bIns="0" rtlCol="0" anchor="t">
            <a:spAutoFit/>
          </a:bodyPr>
          <a:lstStyle/>
          <a:p>
            <a:pPr algn="l">
              <a:lnSpc>
                <a:spcPts val="7840"/>
              </a:lnSpc>
            </a:pPr>
            <a:r>
              <a:rPr lang="en-US" sz="8000" b="1">
                <a:solidFill>
                  <a:srgbClr val="1E293B"/>
                </a:solidFill>
                <a:latin typeface="Poppins Semi-Bold"/>
                <a:ea typeface="Poppins Semi-Bold"/>
                <a:cs typeface="Poppins Semi-Bold"/>
                <a:sym typeface="Poppins Semi-Bold"/>
              </a:rPr>
              <a:t>Problem Areas of Existing System</a:t>
            </a:r>
          </a:p>
        </p:txBody>
      </p:sp>
      <p:sp>
        <p:nvSpPr>
          <p:cNvPr id="8" name="TextBox 8"/>
          <p:cNvSpPr txBox="1"/>
          <p:nvPr/>
        </p:nvSpPr>
        <p:spPr>
          <a:xfrm>
            <a:off x="1734931" y="3933097"/>
            <a:ext cx="10545182" cy="6008873"/>
          </a:xfrm>
          <a:prstGeom prst="rect">
            <a:avLst/>
          </a:prstGeom>
        </p:spPr>
        <p:txBody>
          <a:bodyPr lIns="0" tIns="0" rIns="0" bIns="0" rtlCol="0" anchor="t">
            <a:spAutoFit/>
          </a:bodyPr>
          <a:lstStyle/>
          <a:p>
            <a:pPr algn="l">
              <a:lnSpc>
                <a:spcPts val="4816"/>
              </a:lnSpc>
            </a:pPr>
            <a:r>
              <a:rPr lang="en-US" sz="3440">
                <a:solidFill>
                  <a:srgbClr val="1E293B"/>
                </a:solidFill>
                <a:latin typeface="Open Sans"/>
                <a:ea typeface="Open Sans"/>
                <a:cs typeface="Open Sans"/>
                <a:sym typeface="Open Sans"/>
              </a:rPr>
              <a:t>The existing approach has several limitations.</a:t>
            </a:r>
          </a:p>
          <a:p>
            <a:pPr marL="742774" lvl="1" indent="-371387" algn="l">
              <a:lnSpc>
                <a:spcPts val="4816"/>
              </a:lnSpc>
              <a:buFont typeface="Arial"/>
              <a:buChar char="•"/>
            </a:pPr>
            <a:r>
              <a:rPr lang="en-US" sz="3440">
                <a:solidFill>
                  <a:srgbClr val="1E293B"/>
                </a:solidFill>
                <a:latin typeface="Open Sans"/>
                <a:ea typeface="Open Sans"/>
                <a:cs typeface="Open Sans"/>
                <a:sym typeface="Open Sans"/>
              </a:rPr>
              <a:t>Users forget renewal dates.</a:t>
            </a:r>
          </a:p>
          <a:p>
            <a:pPr marL="742774" lvl="1" indent="-371387" algn="l">
              <a:lnSpc>
                <a:spcPts val="4816"/>
              </a:lnSpc>
              <a:buFont typeface="Arial"/>
              <a:buChar char="•"/>
            </a:pPr>
            <a:r>
              <a:rPr lang="en-US" sz="3440">
                <a:solidFill>
                  <a:srgbClr val="1E293B"/>
                </a:solidFill>
                <a:latin typeface="Open Sans"/>
                <a:ea typeface="Open Sans"/>
                <a:cs typeface="Open Sans"/>
                <a:sym typeface="Open Sans"/>
              </a:rPr>
              <a:t>Money is wasted on unused subscriptions.</a:t>
            </a:r>
          </a:p>
          <a:p>
            <a:pPr marL="742774" lvl="1" indent="-371387" algn="l">
              <a:lnSpc>
                <a:spcPts val="4816"/>
              </a:lnSpc>
              <a:buFont typeface="Arial"/>
              <a:buChar char="•"/>
            </a:pPr>
            <a:r>
              <a:rPr lang="en-US" sz="3440">
                <a:solidFill>
                  <a:srgbClr val="1E293B"/>
                </a:solidFill>
                <a:latin typeface="Open Sans"/>
                <a:ea typeface="Open Sans"/>
                <a:cs typeface="Open Sans"/>
                <a:sym typeface="Open Sans"/>
              </a:rPr>
              <a:t>No automatic reminders.</a:t>
            </a:r>
          </a:p>
          <a:p>
            <a:pPr marL="742774" lvl="1" indent="-371387" algn="l">
              <a:lnSpc>
                <a:spcPts val="4816"/>
              </a:lnSpc>
              <a:buFont typeface="Arial"/>
              <a:buChar char="•"/>
            </a:pPr>
            <a:r>
              <a:rPr lang="en-US" sz="3440">
                <a:solidFill>
                  <a:srgbClr val="1E293B"/>
                </a:solidFill>
                <a:latin typeface="Open Sans"/>
                <a:ea typeface="Open Sans"/>
                <a:cs typeface="Open Sans"/>
                <a:sym typeface="Open Sans"/>
              </a:rPr>
              <a:t>No centralized management.</a:t>
            </a:r>
          </a:p>
          <a:p>
            <a:pPr marL="742774" lvl="1" indent="-371387" algn="l">
              <a:lnSpc>
                <a:spcPts val="4816"/>
              </a:lnSpc>
              <a:buFont typeface="Arial"/>
              <a:buChar char="•"/>
            </a:pPr>
            <a:r>
              <a:rPr lang="en-US" sz="3440">
                <a:solidFill>
                  <a:srgbClr val="1E293B"/>
                </a:solidFill>
                <a:latin typeface="Open Sans"/>
                <a:ea typeface="Open Sans"/>
                <a:cs typeface="Open Sans"/>
                <a:sym typeface="Open Sans"/>
              </a:rPr>
              <a:t>Expense calculation is manual.</a:t>
            </a:r>
          </a:p>
          <a:p>
            <a:pPr marL="742774" lvl="1" indent="-371387" algn="l">
              <a:lnSpc>
                <a:spcPts val="4816"/>
              </a:lnSpc>
              <a:buFont typeface="Arial"/>
              <a:buChar char="•"/>
            </a:pPr>
            <a:r>
              <a:rPr lang="en-US" sz="3440">
                <a:solidFill>
                  <a:srgbClr val="1E293B"/>
                </a:solidFill>
                <a:latin typeface="Open Sans"/>
                <a:ea typeface="Open Sans"/>
                <a:cs typeface="Open Sans"/>
                <a:sym typeface="Open Sans"/>
              </a:rPr>
              <a:t>Difficult to compare monthly and yearly spending.</a:t>
            </a:r>
          </a:p>
          <a:p>
            <a:pPr marL="742774" lvl="1" indent="-371387" algn="l">
              <a:lnSpc>
                <a:spcPts val="4816"/>
              </a:lnSpc>
              <a:buFont typeface="Arial"/>
              <a:buChar char="•"/>
            </a:pPr>
            <a:r>
              <a:rPr lang="en-US" sz="3440">
                <a:solidFill>
                  <a:srgbClr val="1E293B"/>
                </a:solidFill>
                <a:latin typeface="Open Sans"/>
                <a:ea typeface="Open Sans"/>
                <a:cs typeface="Open Sans"/>
                <a:sym typeface="Open Sans"/>
              </a:rPr>
              <a:t>No secure storage for subscription details.</a:t>
            </a:r>
          </a:p>
          <a:p>
            <a:pPr algn="l">
              <a:lnSpc>
                <a:spcPts val="4816"/>
              </a:lnSpc>
            </a:pPr>
            <a:endParaRPr lang="en-US" sz="3440">
              <a:solidFill>
                <a:srgbClr val="1E293B"/>
              </a:solidFill>
              <a:latin typeface="Open Sans"/>
              <a:ea typeface="Open Sans"/>
              <a:cs typeface="Open Sans"/>
              <a:sym typeface="Open San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0" y="0"/>
            <a:ext cx="367633" cy="10287000"/>
            <a:chOff x="0" y="0"/>
            <a:chExt cx="96825" cy="2709333"/>
          </a:xfrm>
        </p:grpSpPr>
        <p:sp>
          <p:nvSpPr>
            <p:cNvPr id="3" name="Freeform 3"/>
            <p:cNvSpPr/>
            <p:nvPr/>
          </p:nvSpPr>
          <p:spPr>
            <a:xfrm>
              <a:off x="0" y="0"/>
              <a:ext cx="96825" cy="2709333"/>
            </a:xfrm>
            <a:custGeom>
              <a:avLst/>
              <a:gdLst/>
              <a:ahLst/>
              <a:cxnLst/>
              <a:rect l="l" t="t" r="r" b="b"/>
              <a:pathLst>
                <a:path w="96825" h="2709333">
                  <a:moveTo>
                    <a:pt x="0" y="0"/>
                  </a:moveTo>
                  <a:lnTo>
                    <a:pt x="96825" y="0"/>
                  </a:lnTo>
                  <a:lnTo>
                    <a:pt x="96825" y="2709333"/>
                  </a:lnTo>
                  <a:lnTo>
                    <a:pt x="0" y="2709333"/>
                  </a:lnTo>
                  <a:close/>
                </a:path>
              </a:pathLst>
            </a:custGeom>
            <a:gradFill rotWithShape="1">
              <a:gsLst>
                <a:gs pos="0">
                  <a:srgbClr val="60A5FA">
                    <a:alpha val="100000"/>
                  </a:srgbClr>
                </a:gs>
                <a:gs pos="100000">
                  <a:srgbClr val="FFFFFF">
                    <a:alpha val="100000"/>
                  </a:srgbClr>
                </a:gs>
              </a:gsLst>
              <a:lin ang="2700000"/>
            </a:gradFill>
          </p:spPr>
          <p:txBody>
            <a:bodyPr/>
            <a:lstStyle/>
            <a:p>
              <a:endParaRPr lang="en-IN"/>
            </a:p>
          </p:txBody>
        </p:sp>
        <p:sp>
          <p:nvSpPr>
            <p:cNvPr id="4" name="TextBox 4"/>
            <p:cNvSpPr txBox="1"/>
            <p:nvPr/>
          </p:nvSpPr>
          <p:spPr>
            <a:xfrm>
              <a:off x="0" y="-38100"/>
              <a:ext cx="968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1028700" y="891823"/>
            <a:ext cx="847008" cy="847008"/>
          </a:xfrm>
          <a:custGeom>
            <a:avLst/>
            <a:gdLst/>
            <a:ahLst/>
            <a:cxnLst/>
            <a:rect l="l" t="t" r="r" b="b"/>
            <a:pathLst>
              <a:path w="847008" h="847008">
                <a:moveTo>
                  <a:pt x="0" y="0"/>
                </a:moveTo>
                <a:lnTo>
                  <a:pt x="847008" y="0"/>
                </a:lnTo>
                <a:lnTo>
                  <a:pt x="847008" y="847008"/>
                </a:lnTo>
                <a:lnTo>
                  <a:pt x="0" y="84700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6" name="TextBox 6"/>
          <p:cNvSpPr txBox="1"/>
          <p:nvPr/>
        </p:nvSpPr>
        <p:spPr>
          <a:xfrm>
            <a:off x="2255701" y="1080396"/>
            <a:ext cx="6446376" cy="422275"/>
          </a:xfrm>
          <a:prstGeom prst="rect">
            <a:avLst/>
          </a:prstGeom>
        </p:spPr>
        <p:txBody>
          <a:bodyPr lIns="0" tIns="0" rIns="0" bIns="0" rtlCol="0" anchor="t">
            <a:spAutoFit/>
          </a:bodyPr>
          <a:lstStyle/>
          <a:p>
            <a:pPr algn="l">
              <a:lnSpc>
                <a:spcPts val="3499"/>
              </a:lnSpc>
            </a:pPr>
            <a:r>
              <a:rPr lang="en-US" sz="2499" b="1">
                <a:solidFill>
                  <a:srgbClr val="1E293B"/>
                </a:solidFill>
                <a:latin typeface="Open Sans Bold"/>
                <a:ea typeface="Open Sans Bold"/>
                <a:cs typeface="Open Sans Bold"/>
                <a:sym typeface="Open Sans Bold"/>
              </a:rPr>
              <a:t>Subscription Tracking Application </a:t>
            </a:r>
          </a:p>
        </p:txBody>
      </p:sp>
      <p:sp>
        <p:nvSpPr>
          <p:cNvPr id="7" name="TextBox 7"/>
          <p:cNvSpPr txBox="1"/>
          <p:nvPr/>
        </p:nvSpPr>
        <p:spPr>
          <a:xfrm>
            <a:off x="1875708" y="2122164"/>
            <a:ext cx="13630007" cy="1128396"/>
          </a:xfrm>
          <a:prstGeom prst="rect">
            <a:avLst/>
          </a:prstGeom>
        </p:spPr>
        <p:txBody>
          <a:bodyPr lIns="0" tIns="0" rIns="0" bIns="0" rtlCol="0" anchor="t">
            <a:spAutoFit/>
          </a:bodyPr>
          <a:lstStyle/>
          <a:p>
            <a:pPr algn="l">
              <a:lnSpc>
                <a:spcPts val="7840"/>
              </a:lnSpc>
            </a:pPr>
            <a:r>
              <a:rPr lang="en-US" sz="8000" b="1">
                <a:solidFill>
                  <a:srgbClr val="1E293B"/>
                </a:solidFill>
                <a:latin typeface="Poppins Semi-Bold"/>
                <a:ea typeface="Poppins Semi-Bold"/>
                <a:cs typeface="Poppins Semi-Bold"/>
                <a:sym typeface="Poppins Semi-Bold"/>
              </a:rPr>
              <a:t>Need for the New System</a:t>
            </a:r>
          </a:p>
        </p:txBody>
      </p:sp>
      <p:sp>
        <p:nvSpPr>
          <p:cNvPr id="8" name="TextBox 8"/>
          <p:cNvSpPr txBox="1"/>
          <p:nvPr/>
        </p:nvSpPr>
        <p:spPr>
          <a:xfrm>
            <a:off x="2099710" y="3726810"/>
            <a:ext cx="9549683" cy="6054964"/>
          </a:xfrm>
          <a:prstGeom prst="rect">
            <a:avLst/>
          </a:prstGeom>
        </p:spPr>
        <p:txBody>
          <a:bodyPr lIns="0" tIns="0" rIns="0" bIns="0" rtlCol="0" anchor="t">
            <a:spAutoFit/>
          </a:bodyPr>
          <a:lstStyle/>
          <a:p>
            <a:pPr algn="l">
              <a:lnSpc>
                <a:spcPts val="4361"/>
              </a:lnSpc>
            </a:pPr>
            <a:r>
              <a:rPr lang="en-US" sz="3115" b="1">
                <a:solidFill>
                  <a:srgbClr val="1E293B"/>
                </a:solidFill>
                <a:latin typeface="Open Sans Bold"/>
                <a:ea typeface="Open Sans Bold"/>
                <a:cs typeface="Open Sans Bold"/>
                <a:sym typeface="Open Sans Bold"/>
              </a:rPr>
              <a:t>User Authentication</a:t>
            </a:r>
          </a:p>
          <a:p>
            <a:pPr algn="l">
              <a:lnSpc>
                <a:spcPts val="4361"/>
              </a:lnSpc>
            </a:pPr>
            <a:r>
              <a:rPr lang="en-US" sz="3115">
                <a:solidFill>
                  <a:srgbClr val="1E293B"/>
                </a:solidFill>
                <a:latin typeface="Open Sans"/>
                <a:ea typeface="Open Sans"/>
                <a:cs typeface="Open Sans"/>
                <a:sym typeface="Open Sans"/>
              </a:rPr>
              <a:t>Only registered users can access their subscription information.</a:t>
            </a:r>
          </a:p>
          <a:p>
            <a:pPr algn="l">
              <a:lnSpc>
                <a:spcPts val="4361"/>
              </a:lnSpc>
            </a:pPr>
            <a:endParaRPr lang="en-US" sz="3115">
              <a:solidFill>
                <a:srgbClr val="1E293B"/>
              </a:solidFill>
              <a:latin typeface="Open Sans"/>
              <a:ea typeface="Open Sans"/>
              <a:cs typeface="Open Sans"/>
              <a:sym typeface="Open Sans"/>
            </a:endParaRPr>
          </a:p>
          <a:p>
            <a:pPr algn="l">
              <a:lnSpc>
                <a:spcPts val="4361"/>
              </a:lnSpc>
            </a:pPr>
            <a:r>
              <a:rPr lang="en-US" sz="3115" b="1">
                <a:solidFill>
                  <a:srgbClr val="1E293B"/>
                </a:solidFill>
                <a:latin typeface="Open Sans Bold"/>
                <a:ea typeface="Open Sans Bold"/>
                <a:cs typeface="Open Sans Bold"/>
                <a:sym typeface="Open Sans Bold"/>
              </a:rPr>
              <a:t>Subscription Management</a:t>
            </a:r>
          </a:p>
          <a:p>
            <a:pPr algn="l">
              <a:lnSpc>
                <a:spcPts val="4361"/>
              </a:lnSpc>
            </a:pPr>
            <a:r>
              <a:rPr lang="en-US" sz="3115" b="1">
                <a:solidFill>
                  <a:srgbClr val="1E293B"/>
                </a:solidFill>
                <a:latin typeface="Open Sans Bold"/>
                <a:ea typeface="Open Sans Bold"/>
                <a:cs typeface="Open Sans Bold"/>
                <a:sym typeface="Open Sans Bold"/>
              </a:rPr>
              <a:t>   </a:t>
            </a:r>
            <a:r>
              <a:rPr lang="en-US" sz="3115">
                <a:solidFill>
                  <a:srgbClr val="1E293B"/>
                </a:solidFill>
                <a:latin typeface="Open Sans"/>
                <a:ea typeface="Open Sans"/>
                <a:cs typeface="Open Sans"/>
                <a:sym typeface="Open Sans"/>
              </a:rPr>
              <a:t>Users can:</a:t>
            </a:r>
          </a:p>
          <a:p>
            <a:pPr marL="672654" lvl="1" indent="-336327" algn="l">
              <a:lnSpc>
                <a:spcPts val="4361"/>
              </a:lnSpc>
              <a:buFont typeface="Arial"/>
              <a:buChar char="•"/>
            </a:pPr>
            <a:r>
              <a:rPr lang="en-US" sz="3115">
                <a:solidFill>
                  <a:srgbClr val="1E293B"/>
                </a:solidFill>
                <a:latin typeface="Open Sans"/>
                <a:ea typeface="Open Sans"/>
                <a:cs typeface="Open Sans"/>
                <a:sym typeface="Open Sans"/>
              </a:rPr>
              <a:t>Add subscriptions</a:t>
            </a:r>
          </a:p>
          <a:p>
            <a:pPr marL="672654" lvl="1" indent="-336327" algn="l">
              <a:lnSpc>
                <a:spcPts val="4361"/>
              </a:lnSpc>
              <a:buFont typeface="Arial"/>
              <a:buChar char="•"/>
            </a:pPr>
            <a:r>
              <a:rPr lang="en-US" sz="3115">
                <a:solidFill>
                  <a:srgbClr val="1E293B"/>
                </a:solidFill>
                <a:latin typeface="Open Sans"/>
                <a:ea typeface="Open Sans"/>
                <a:cs typeface="Open Sans"/>
                <a:sym typeface="Open Sans"/>
              </a:rPr>
              <a:t>Edit subscriptions</a:t>
            </a:r>
          </a:p>
          <a:p>
            <a:pPr marL="672654" lvl="1" indent="-336327" algn="l">
              <a:lnSpc>
                <a:spcPts val="4361"/>
              </a:lnSpc>
              <a:buFont typeface="Arial"/>
              <a:buChar char="•"/>
            </a:pPr>
            <a:r>
              <a:rPr lang="en-US" sz="3115">
                <a:solidFill>
                  <a:srgbClr val="1E293B"/>
                </a:solidFill>
                <a:latin typeface="Open Sans"/>
                <a:ea typeface="Open Sans"/>
                <a:cs typeface="Open Sans"/>
                <a:sym typeface="Open Sans"/>
              </a:rPr>
              <a:t>Delete subscriptions</a:t>
            </a:r>
          </a:p>
          <a:p>
            <a:pPr marL="672654" lvl="1" indent="-336327" algn="l">
              <a:lnSpc>
                <a:spcPts val="4361"/>
              </a:lnSpc>
              <a:buFont typeface="Arial"/>
              <a:buChar char="•"/>
            </a:pPr>
            <a:r>
              <a:rPr lang="en-US" sz="3115">
                <a:solidFill>
                  <a:srgbClr val="1E293B"/>
                </a:solidFill>
                <a:latin typeface="Open Sans"/>
                <a:ea typeface="Open Sans"/>
                <a:cs typeface="Open Sans"/>
                <a:sym typeface="Open Sans"/>
              </a:rPr>
              <a:t>View subscription details</a:t>
            </a:r>
          </a:p>
          <a:p>
            <a:pPr algn="l">
              <a:lnSpc>
                <a:spcPts val="4361"/>
              </a:lnSpc>
            </a:pPr>
            <a:endParaRPr lang="en-US" sz="3115">
              <a:solidFill>
                <a:srgbClr val="1E293B"/>
              </a:solidFill>
              <a:latin typeface="Open Sans"/>
              <a:ea typeface="Open Sans"/>
              <a:cs typeface="Open Sans"/>
              <a:sym typeface="Open San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0" y="0"/>
            <a:ext cx="367633" cy="10287000"/>
            <a:chOff x="0" y="0"/>
            <a:chExt cx="96825" cy="2709333"/>
          </a:xfrm>
        </p:grpSpPr>
        <p:sp>
          <p:nvSpPr>
            <p:cNvPr id="3" name="Freeform 3"/>
            <p:cNvSpPr/>
            <p:nvPr/>
          </p:nvSpPr>
          <p:spPr>
            <a:xfrm>
              <a:off x="0" y="0"/>
              <a:ext cx="96825" cy="2709333"/>
            </a:xfrm>
            <a:custGeom>
              <a:avLst/>
              <a:gdLst/>
              <a:ahLst/>
              <a:cxnLst/>
              <a:rect l="l" t="t" r="r" b="b"/>
              <a:pathLst>
                <a:path w="96825" h="2709333">
                  <a:moveTo>
                    <a:pt x="0" y="0"/>
                  </a:moveTo>
                  <a:lnTo>
                    <a:pt x="96825" y="0"/>
                  </a:lnTo>
                  <a:lnTo>
                    <a:pt x="96825" y="2709333"/>
                  </a:lnTo>
                  <a:lnTo>
                    <a:pt x="0" y="2709333"/>
                  </a:lnTo>
                  <a:close/>
                </a:path>
              </a:pathLst>
            </a:custGeom>
            <a:gradFill rotWithShape="1">
              <a:gsLst>
                <a:gs pos="0">
                  <a:srgbClr val="60A5FA">
                    <a:alpha val="100000"/>
                  </a:srgbClr>
                </a:gs>
                <a:gs pos="100000">
                  <a:srgbClr val="FFFFFF">
                    <a:alpha val="100000"/>
                  </a:srgbClr>
                </a:gs>
              </a:gsLst>
              <a:lin ang="2700000"/>
            </a:gradFill>
          </p:spPr>
          <p:txBody>
            <a:bodyPr/>
            <a:lstStyle/>
            <a:p>
              <a:endParaRPr lang="en-IN"/>
            </a:p>
          </p:txBody>
        </p:sp>
        <p:sp>
          <p:nvSpPr>
            <p:cNvPr id="4" name="TextBox 4"/>
            <p:cNvSpPr txBox="1"/>
            <p:nvPr/>
          </p:nvSpPr>
          <p:spPr>
            <a:xfrm>
              <a:off x="0" y="-38100"/>
              <a:ext cx="968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1028700" y="891823"/>
            <a:ext cx="847008" cy="847008"/>
          </a:xfrm>
          <a:custGeom>
            <a:avLst/>
            <a:gdLst/>
            <a:ahLst/>
            <a:cxnLst/>
            <a:rect l="l" t="t" r="r" b="b"/>
            <a:pathLst>
              <a:path w="847008" h="847008">
                <a:moveTo>
                  <a:pt x="0" y="0"/>
                </a:moveTo>
                <a:lnTo>
                  <a:pt x="847008" y="0"/>
                </a:lnTo>
                <a:lnTo>
                  <a:pt x="847008" y="847008"/>
                </a:lnTo>
                <a:lnTo>
                  <a:pt x="0" y="84700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6" name="TextBox 6"/>
          <p:cNvSpPr txBox="1"/>
          <p:nvPr/>
        </p:nvSpPr>
        <p:spPr>
          <a:xfrm>
            <a:off x="2255701" y="1080396"/>
            <a:ext cx="6758865" cy="422275"/>
          </a:xfrm>
          <a:prstGeom prst="rect">
            <a:avLst/>
          </a:prstGeom>
        </p:spPr>
        <p:txBody>
          <a:bodyPr lIns="0" tIns="0" rIns="0" bIns="0" rtlCol="0" anchor="t">
            <a:spAutoFit/>
          </a:bodyPr>
          <a:lstStyle/>
          <a:p>
            <a:pPr algn="l">
              <a:lnSpc>
                <a:spcPts val="3499"/>
              </a:lnSpc>
            </a:pPr>
            <a:r>
              <a:rPr lang="en-US" sz="2499" b="1">
                <a:solidFill>
                  <a:srgbClr val="1E293B"/>
                </a:solidFill>
                <a:latin typeface="Open Sans Bold"/>
                <a:ea typeface="Open Sans Bold"/>
                <a:cs typeface="Open Sans Bold"/>
                <a:sym typeface="Open Sans Bold"/>
              </a:rPr>
              <a:t>Subscription Tracking Application </a:t>
            </a:r>
          </a:p>
        </p:txBody>
      </p:sp>
      <p:sp>
        <p:nvSpPr>
          <p:cNvPr id="7" name="TextBox 7"/>
          <p:cNvSpPr txBox="1"/>
          <p:nvPr/>
        </p:nvSpPr>
        <p:spPr>
          <a:xfrm>
            <a:off x="2255701" y="2231378"/>
            <a:ext cx="8977822" cy="7698003"/>
          </a:xfrm>
          <a:prstGeom prst="rect">
            <a:avLst/>
          </a:prstGeom>
        </p:spPr>
        <p:txBody>
          <a:bodyPr lIns="0" tIns="0" rIns="0" bIns="0" rtlCol="0" anchor="t">
            <a:spAutoFit/>
          </a:bodyPr>
          <a:lstStyle/>
          <a:p>
            <a:pPr algn="l">
              <a:lnSpc>
                <a:spcPts val="4100"/>
              </a:lnSpc>
            </a:pPr>
            <a:r>
              <a:rPr lang="en-US" sz="2929" b="1">
                <a:solidFill>
                  <a:srgbClr val="1E293B"/>
                </a:solidFill>
                <a:latin typeface="Open Sans Bold"/>
                <a:ea typeface="Open Sans Bold"/>
                <a:cs typeface="Open Sans Bold"/>
                <a:sym typeface="Open Sans Bold"/>
              </a:rPr>
              <a:t>Dashboard</a:t>
            </a:r>
          </a:p>
          <a:p>
            <a:pPr algn="l">
              <a:lnSpc>
                <a:spcPts val="4100"/>
              </a:lnSpc>
            </a:pPr>
            <a:r>
              <a:rPr lang="en-US" sz="2929">
                <a:solidFill>
                  <a:srgbClr val="1E293B"/>
                </a:solidFill>
                <a:latin typeface="Open Sans"/>
                <a:ea typeface="Open Sans"/>
                <a:cs typeface="Open Sans"/>
                <a:sym typeface="Open Sans"/>
              </a:rPr>
              <a:t>The dashboard displays:</a:t>
            </a:r>
          </a:p>
          <a:p>
            <a:pPr marL="632374" lvl="1" indent="-316187" algn="l">
              <a:lnSpc>
                <a:spcPts val="4100"/>
              </a:lnSpc>
              <a:buFont typeface="Arial"/>
              <a:buChar char="•"/>
            </a:pPr>
            <a:r>
              <a:rPr lang="en-US" sz="2929">
                <a:solidFill>
                  <a:srgbClr val="1E293B"/>
                </a:solidFill>
                <a:latin typeface="Open Sans"/>
                <a:ea typeface="Open Sans"/>
                <a:cs typeface="Open Sans"/>
                <a:sym typeface="Open Sans"/>
              </a:rPr>
              <a:t>Total monthly spending</a:t>
            </a:r>
          </a:p>
          <a:p>
            <a:pPr marL="632374" lvl="1" indent="-316187" algn="l">
              <a:lnSpc>
                <a:spcPts val="4100"/>
              </a:lnSpc>
              <a:buFont typeface="Arial"/>
              <a:buChar char="•"/>
            </a:pPr>
            <a:r>
              <a:rPr lang="en-US" sz="2929">
                <a:solidFill>
                  <a:srgbClr val="1E293B"/>
                </a:solidFill>
                <a:latin typeface="Open Sans"/>
                <a:ea typeface="Open Sans"/>
                <a:cs typeface="Open Sans"/>
                <a:sym typeface="Open Sans"/>
              </a:rPr>
              <a:t>Total yearly spending</a:t>
            </a:r>
          </a:p>
          <a:p>
            <a:pPr marL="632374" lvl="1" indent="-316187" algn="l">
              <a:lnSpc>
                <a:spcPts val="4100"/>
              </a:lnSpc>
              <a:buFont typeface="Arial"/>
              <a:buChar char="•"/>
            </a:pPr>
            <a:r>
              <a:rPr lang="en-US" sz="2929">
                <a:solidFill>
                  <a:srgbClr val="1E293B"/>
                </a:solidFill>
                <a:latin typeface="Open Sans"/>
                <a:ea typeface="Open Sans"/>
                <a:cs typeface="Open Sans"/>
                <a:sym typeface="Open Sans"/>
              </a:rPr>
              <a:t>Upcoming renewals</a:t>
            </a:r>
          </a:p>
          <a:p>
            <a:pPr marL="632374" lvl="1" indent="-316187" algn="l">
              <a:lnSpc>
                <a:spcPts val="4100"/>
              </a:lnSpc>
              <a:buFont typeface="Arial"/>
              <a:buChar char="•"/>
            </a:pPr>
            <a:r>
              <a:rPr lang="en-US" sz="2929">
                <a:solidFill>
                  <a:srgbClr val="1E293B"/>
                </a:solidFill>
                <a:latin typeface="Open Sans"/>
                <a:ea typeface="Open Sans"/>
                <a:cs typeface="Open Sans"/>
                <a:sym typeface="Open Sans"/>
              </a:rPr>
              <a:t>Subscription summary</a:t>
            </a:r>
          </a:p>
          <a:p>
            <a:pPr algn="l">
              <a:lnSpc>
                <a:spcPts val="4100"/>
              </a:lnSpc>
            </a:pPr>
            <a:endParaRPr lang="en-US" sz="2929">
              <a:solidFill>
                <a:srgbClr val="1E293B"/>
              </a:solidFill>
              <a:latin typeface="Open Sans"/>
              <a:ea typeface="Open Sans"/>
              <a:cs typeface="Open Sans"/>
              <a:sym typeface="Open Sans"/>
            </a:endParaRPr>
          </a:p>
          <a:p>
            <a:pPr algn="l">
              <a:lnSpc>
                <a:spcPts val="4100"/>
              </a:lnSpc>
            </a:pPr>
            <a:r>
              <a:rPr lang="en-US" sz="2929" b="1">
                <a:solidFill>
                  <a:srgbClr val="1E293B"/>
                </a:solidFill>
                <a:latin typeface="Open Sans Bold"/>
                <a:ea typeface="Open Sans Bold"/>
                <a:cs typeface="Open Sans Bold"/>
                <a:sym typeface="Open Sans Bold"/>
              </a:rPr>
              <a:t>Additional Benefits</a:t>
            </a:r>
          </a:p>
          <a:p>
            <a:pPr marL="632374" lvl="1" indent="-316187" algn="l">
              <a:lnSpc>
                <a:spcPts val="4100"/>
              </a:lnSpc>
              <a:buFont typeface="Arial"/>
              <a:buChar char="•"/>
            </a:pPr>
            <a:r>
              <a:rPr lang="en-US" sz="2929">
                <a:solidFill>
                  <a:srgbClr val="1E293B"/>
                </a:solidFill>
                <a:latin typeface="Open Sans"/>
                <a:ea typeface="Open Sans"/>
                <a:cs typeface="Open Sans"/>
                <a:sym typeface="Open Sans"/>
              </a:rPr>
              <a:t>Saves money</a:t>
            </a:r>
          </a:p>
          <a:p>
            <a:pPr marL="632374" lvl="1" indent="-316187" algn="l">
              <a:lnSpc>
                <a:spcPts val="4100"/>
              </a:lnSpc>
              <a:buFont typeface="Arial"/>
              <a:buChar char="•"/>
            </a:pPr>
            <a:r>
              <a:rPr lang="en-US" sz="2929">
                <a:solidFill>
                  <a:srgbClr val="1E293B"/>
                </a:solidFill>
                <a:latin typeface="Open Sans"/>
                <a:ea typeface="Open Sans"/>
                <a:cs typeface="Open Sans"/>
                <a:sym typeface="Open Sans"/>
              </a:rPr>
              <a:t>Saves time</a:t>
            </a:r>
          </a:p>
          <a:p>
            <a:pPr marL="632374" lvl="1" indent="-316187" algn="l">
              <a:lnSpc>
                <a:spcPts val="4100"/>
              </a:lnSpc>
              <a:buFont typeface="Arial"/>
              <a:buChar char="•"/>
            </a:pPr>
            <a:r>
              <a:rPr lang="en-US" sz="2929">
                <a:solidFill>
                  <a:srgbClr val="1E293B"/>
                </a:solidFill>
                <a:latin typeface="Open Sans"/>
                <a:ea typeface="Open Sans"/>
                <a:cs typeface="Open Sans"/>
                <a:sym typeface="Open Sans"/>
              </a:rPr>
              <a:t>Improves financial planning</a:t>
            </a:r>
          </a:p>
          <a:p>
            <a:pPr marL="632374" lvl="1" indent="-316187" algn="l">
              <a:lnSpc>
                <a:spcPts val="4100"/>
              </a:lnSpc>
              <a:buFont typeface="Arial"/>
              <a:buChar char="•"/>
            </a:pPr>
            <a:r>
              <a:rPr lang="en-US" sz="2929">
                <a:solidFill>
                  <a:srgbClr val="1E293B"/>
                </a:solidFill>
                <a:latin typeface="Open Sans"/>
                <a:ea typeface="Open Sans"/>
                <a:cs typeface="Open Sans"/>
                <a:sym typeface="Open Sans"/>
              </a:rPr>
              <a:t>Better user experience</a:t>
            </a:r>
          </a:p>
          <a:p>
            <a:pPr marL="632374" lvl="1" indent="-316187" algn="l">
              <a:lnSpc>
                <a:spcPts val="4100"/>
              </a:lnSpc>
              <a:buFont typeface="Arial"/>
              <a:buChar char="•"/>
            </a:pPr>
            <a:r>
              <a:rPr lang="en-US" sz="2929">
                <a:solidFill>
                  <a:srgbClr val="1E293B"/>
                </a:solidFill>
                <a:latin typeface="Open Sans"/>
                <a:ea typeface="Open Sans"/>
                <a:cs typeface="Open Sans"/>
                <a:sym typeface="Open Sans"/>
              </a:rPr>
              <a:t>Easy to manage multiple subscriptions</a:t>
            </a:r>
          </a:p>
          <a:p>
            <a:pPr marL="632374" lvl="1" indent="-316187" algn="l">
              <a:lnSpc>
                <a:spcPts val="4100"/>
              </a:lnSpc>
              <a:buFont typeface="Arial"/>
              <a:buChar char="•"/>
            </a:pPr>
            <a:r>
              <a:rPr lang="en-US" sz="2929">
                <a:solidFill>
                  <a:srgbClr val="1E293B"/>
                </a:solidFill>
                <a:latin typeface="Open Sans"/>
                <a:ea typeface="Open Sans"/>
                <a:cs typeface="Open Sans"/>
                <a:sym typeface="Open Sans"/>
              </a:rPr>
              <a:t>Secure database storage</a:t>
            </a:r>
          </a:p>
          <a:p>
            <a:pPr algn="l">
              <a:lnSpc>
                <a:spcPts val="4100"/>
              </a:lnSpc>
            </a:pPr>
            <a:endParaRPr lang="en-US" sz="2929">
              <a:solidFill>
                <a:srgbClr val="1E293B"/>
              </a:solidFill>
              <a:latin typeface="Open Sans"/>
              <a:ea typeface="Open Sans"/>
              <a:cs typeface="Open Sans"/>
              <a:sym typeface="Open San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0" y="0"/>
            <a:ext cx="367633" cy="10287000"/>
            <a:chOff x="0" y="0"/>
            <a:chExt cx="96825" cy="2709333"/>
          </a:xfrm>
        </p:grpSpPr>
        <p:sp>
          <p:nvSpPr>
            <p:cNvPr id="3" name="Freeform 3"/>
            <p:cNvSpPr/>
            <p:nvPr/>
          </p:nvSpPr>
          <p:spPr>
            <a:xfrm>
              <a:off x="0" y="0"/>
              <a:ext cx="96825" cy="2709333"/>
            </a:xfrm>
            <a:custGeom>
              <a:avLst/>
              <a:gdLst/>
              <a:ahLst/>
              <a:cxnLst/>
              <a:rect l="l" t="t" r="r" b="b"/>
              <a:pathLst>
                <a:path w="96825" h="2709333">
                  <a:moveTo>
                    <a:pt x="0" y="0"/>
                  </a:moveTo>
                  <a:lnTo>
                    <a:pt x="96825" y="0"/>
                  </a:lnTo>
                  <a:lnTo>
                    <a:pt x="96825" y="2709333"/>
                  </a:lnTo>
                  <a:lnTo>
                    <a:pt x="0" y="2709333"/>
                  </a:lnTo>
                  <a:close/>
                </a:path>
              </a:pathLst>
            </a:custGeom>
            <a:gradFill rotWithShape="1">
              <a:gsLst>
                <a:gs pos="0">
                  <a:srgbClr val="60A5FA">
                    <a:alpha val="100000"/>
                  </a:srgbClr>
                </a:gs>
                <a:gs pos="100000">
                  <a:srgbClr val="FFFFFF">
                    <a:alpha val="100000"/>
                  </a:srgbClr>
                </a:gs>
              </a:gsLst>
              <a:lin ang="2700000"/>
            </a:gradFill>
          </p:spPr>
          <p:txBody>
            <a:bodyPr/>
            <a:lstStyle/>
            <a:p>
              <a:endParaRPr lang="en-IN"/>
            </a:p>
          </p:txBody>
        </p:sp>
        <p:sp>
          <p:nvSpPr>
            <p:cNvPr id="4" name="TextBox 4"/>
            <p:cNvSpPr txBox="1"/>
            <p:nvPr/>
          </p:nvSpPr>
          <p:spPr>
            <a:xfrm>
              <a:off x="0" y="-38100"/>
              <a:ext cx="968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1028700" y="891823"/>
            <a:ext cx="847008" cy="847008"/>
          </a:xfrm>
          <a:custGeom>
            <a:avLst/>
            <a:gdLst/>
            <a:ahLst/>
            <a:cxnLst/>
            <a:rect l="l" t="t" r="r" b="b"/>
            <a:pathLst>
              <a:path w="847008" h="847008">
                <a:moveTo>
                  <a:pt x="0" y="0"/>
                </a:moveTo>
                <a:lnTo>
                  <a:pt x="847008" y="0"/>
                </a:lnTo>
                <a:lnTo>
                  <a:pt x="847008" y="847008"/>
                </a:lnTo>
                <a:lnTo>
                  <a:pt x="0" y="84700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6" name="TextBox 6"/>
          <p:cNvSpPr txBox="1"/>
          <p:nvPr/>
        </p:nvSpPr>
        <p:spPr>
          <a:xfrm>
            <a:off x="2255701" y="1080396"/>
            <a:ext cx="5568433" cy="422275"/>
          </a:xfrm>
          <a:prstGeom prst="rect">
            <a:avLst/>
          </a:prstGeom>
        </p:spPr>
        <p:txBody>
          <a:bodyPr lIns="0" tIns="0" rIns="0" bIns="0" rtlCol="0" anchor="t">
            <a:spAutoFit/>
          </a:bodyPr>
          <a:lstStyle/>
          <a:p>
            <a:pPr algn="l">
              <a:lnSpc>
                <a:spcPts val="3499"/>
              </a:lnSpc>
            </a:pPr>
            <a:r>
              <a:rPr lang="en-US" sz="2499" b="1">
                <a:solidFill>
                  <a:srgbClr val="1E293B"/>
                </a:solidFill>
                <a:latin typeface="Open Sans Bold"/>
                <a:ea typeface="Open Sans Bold"/>
                <a:cs typeface="Open Sans Bold"/>
                <a:sym typeface="Open Sans Bold"/>
              </a:rPr>
              <a:t>Subscription Tracking Application </a:t>
            </a:r>
          </a:p>
        </p:txBody>
      </p:sp>
      <p:sp>
        <p:nvSpPr>
          <p:cNvPr id="7" name="TextBox 7"/>
          <p:cNvSpPr txBox="1"/>
          <p:nvPr/>
        </p:nvSpPr>
        <p:spPr>
          <a:xfrm>
            <a:off x="1028700" y="2226019"/>
            <a:ext cx="11502111" cy="1128396"/>
          </a:xfrm>
          <a:prstGeom prst="rect">
            <a:avLst/>
          </a:prstGeom>
        </p:spPr>
        <p:txBody>
          <a:bodyPr lIns="0" tIns="0" rIns="0" bIns="0" rtlCol="0" anchor="t">
            <a:spAutoFit/>
          </a:bodyPr>
          <a:lstStyle/>
          <a:p>
            <a:pPr algn="l">
              <a:lnSpc>
                <a:spcPts val="7840"/>
              </a:lnSpc>
            </a:pPr>
            <a:r>
              <a:rPr lang="en-US" sz="8000" b="1">
                <a:solidFill>
                  <a:srgbClr val="1E293B"/>
                </a:solidFill>
                <a:latin typeface="Poppins Semi-Bold"/>
                <a:ea typeface="Poppins Semi-Bold"/>
                <a:cs typeface="Poppins Semi-Bold"/>
                <a:sym typeface="Poppins Semi-Bold"/>
              </a:rPr>
              <a:t>System Flow Diagram</a:t>
            </a:r>
          </a:p>
        </p:txBody>
      </p:sp>
      <p:sp>
        <p:nvSpPr>
          <p:cNvPr id="8" name="TextBox 8"/>
          <p:cNvSpPr txBox="1"/>
          <p:nvPr/>
        </p:nvSpPr>
        <p:spPr>
          <a:xfrm>
            <a:off x="1683297" y="3563893"/>
            <a:ext cx="4012799" cy="6429337"/>
          </a:xfrm>
          <a:prstGeom prst="rect">
            <a:avLst/>
          </a:prstGeom>
        </p:spPr>
        <p:txBody>
          <a:bodyPr lIns="0" tIns="0" rIns="0" bIns="0" rtlCol="0" anchor="t">
            <a:spAutoFit/>
          </a:bodyPr>
          <a:lstStyle/>
          <a:p>
            <a:pPr algn="l">
              <a:lnSpc>
                <a:spcPts val="1832"/>
              </a:lnSpc>
            </a:pPr>
            <a:r>
              <a:rPr lang="en-US" sz="1309">
                <a:solidFill>
                  <a:srgbClr val="1E293B"/>
                </a:solidFill>
                <a:latin typeface="Open Sans"/>
                <a:ea typeface="Open Sans"/>
                <a:cs typeface="Open Sans"/>
                <a:sym typeface="Open Sans"/>
              </a:rPr>
              <a:t>                 Start</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User Registration/Login</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User Dashboard</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Add Subscription Details</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Validate User Input</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Save Data into Database</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Calculate Monthly/Yearly Cost</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Display Dashboard Analytics</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Upcoming Renewal Reminders</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a:t>
            </a:r>
          </a:p>
          <a:p>
            <a:pPr algn="l">
              <a:lnSpc>
                <a:spcPts val="1832"/>
              </a:lnSpc>
            </a:pPr>
            <a:r>
              <a:rPr lang="en-US" sz="1309">
                <a:solidFill>
                  <a:srgbClr val="1E293B"/>
                </a:solidFill>
                <a:latin typeface="Open Sans"/>
                <a:ea typeface="Open Sans"/>
                <a:cs typeface="Open Sans"/>
                <a:sym typeface="Open Sans"/>
              </a:rPr>
              <a:t>                  End</a:t>
            </a:r>
          </a:p>
        </p:txBody>
      </p:sp>
      <p:sp>
        <p:nvSpPr>
          <p:cNvPr id="9" name="TextBox 9"/>
          <p:cNvSpPr txBox="1"/>
          <p:nvPr/>
        </p:nvSpPr>
        <p:spPr>
          <a:xfrm>
            <a:off x="5918494" y="3795892"/>
            <a:ext cx="12110986" cy="3064872"/>
          </a:xfrm>
          <a:prstGeom prst="rect">
            <a:avLst/>
          </a:prstGeom>
        </p:spPr>
        <p:txBody>
          <a:bodyPr lIns="0" tIns="0" rIns="0" bIns="0" rtlCol="0" anchor="t">
            <a:spAutoFit/>
          </a:bodyPr>
          <a:lstStyle/>
          <a:p>
            <a:pPr algn="l">
              <a:lnSpc>
                <a:spcPts val="3056"/>
              </a:lnSpc>
            </a:pPr>
            <a:r>
              <a:rPr lang="en-US" sz="2183" b="1">
                <a:solidFill>
                  <a:srgbClr val="1E293B"/>
                </a:solidFill>
                <a:latin typeface="Canva Sans Bold"/>
                <a:ea typeface="Canva Sans Bold"/>
                <a:cs typeface="Canva Sans Bold"/>
                <a:sym typeface="Canva Sans Bold"/>
              </a:rPr>
              <a:t>Working Process</a:t>
            </a:r>
          </a:p>
          <a:p>
            <a:pPr marL="471373" lvl="1" indent="-235687" algn="l">
              <a:lnSpc>
                <a:spcPts val="3056"/>
              </a:lnSpc>
              <a:buAutoNum type="arabicPeriod"/>
            </a:pPr>
            <a:r>
              <a:rPr lang="en-US" sz="2183">
                <a:solidFill>
                  <a:srgbClr val="1E293B"/>
                </a:solidFill>
                <a:latin typeface="Canva Sans"/>
                <a:ea typeface="Canva Sans"/>
                <a:cs typeface="Canva Sans"/>
                <a:sym typeface="Canva Sans"/>
              </a:rPr>
              <a:t>User logs into the application.</a:t>
            </a:r>
          </a:p>
          <a:p>
            <a:pPr marL="471373" lvl="1" indent="-235687" algn="l">
              <a:lnSpc>
                <a:spcPts val="3056"/>
              </a:lnSpc>
              <a:buAutoNum type="arabicPeriod"/>
            </a:pPr>
            <a:r>
              <a:rPr lang="en-US" sz="2183">
                <a:solidFill>
                  <a:srgbClr val="1E293B"/>
                </a:solidFill>
                <a:latin typeface="Canva Sans"/>
                <a:ea typeface="Canva Sans"/>
                <a:cs typeface="Canva Sans"/>
                <a:sym typeface="Canva Sans"/>
              </a:rPr>
              <a:t>The user adds subscription information (service name, cost, billing cycle, renewal date).</a:t>
            </a:r>
          </a:p>
          <a:p>
            <a:pPr marL="471373" lvl="1" indent="-235687" algn="l">
              <a:lnSpc>
                <a:spcPts val="3056"/>
              </a:lnSpc>
              <a:buAutoNum type="arabicPeriod"/>
            </a:pPr>
            <a:r>
              <a:rPr lang="en-US" sz="2183">
                <a:solidFill>
                  <a:srgbClr val="1E293B"/>
                </a:solidFill>
                <a:latin typeface="Canva Sans"/>
                <a:ea typeface="Canva Sans"/>
                <a:cs typeface="Canva Sans"/>
                <a:sym typeface="Canva Sans"/>
              </a:rPr>
              <a:t>The system stores the information in the database.</a:t>
            </a:r>
          </a:p>
          <a:p>
            <a:pPr marL="471373" lvl="1" indent="-235687" algn="l">
              <a:lnSpc>
                <a:spcPts val="3056"/>
              </a:lnSpc>
              <a:buAutoNum type="arabicPeriod"/>
            </a:pPr>
            <a:r>
              <a:rPr lang="en-US" sz="2183">
                <a:solidFill>
                  <a:srgbClr val="1E293B"/>
                </a:solidFill>
                <a:latin typeface="Canva Sans"/>
                <a:ea typeface="Canva Sans"/>
                <a:cs typeface="Canva Sans"/>
                <a:sym typeface="Canva Sans"/>
              </a:rPr>
              <a:t>The backend calculates monthly and yearly expenses.</a:t>
            </a:r>
          </a:p>
          <a:p>
            <a:pPr marL="471373" lvl="1" indent="-235687" algn="l">
              <a:lnSpc>
                <a:spcPts val="3056"/>
              </a:lnSpc>
              <a:buAutoNum type="arabicPeriod"/>
            </a:pPr>
            <a:r>
              <a:rPr lang="en-US" sz="2183">
                <a:solidFill>
                  <a:srgbClr val="1E293B"/>
                </a:solidFill>
                <a:latin typeface="Canva Sans"/>
                <a:ea typeface="Canva Sans"/>
                <a:cs typeface="Canva Sans"/>
                <a:sym typeface="Canva Sans"/>
              </a:rPr>
              <a:t>The dashboard displays analytics and upcoming renewal dates.</a:t>
            </a:r>
          </a:p>
          <a:p>
            <a:pPr marL="471373" lvl="1" indent="-235687" algn="l">
              <a:lnSpc>
                <a:spcPts val="3056"/>
              </a:lnSpc>
              <a:buAutoNum type="arabicPeriod"/>
            </a:pPr>
            <a:r>
              <a:rPr lang="en-US" sz="2183">
                <a:solidFill>
                  <a:srgbClr val="1E293B"/>
                </a:solidFill>
                <a:latin typeface="Canva Sans"/>
                <a:ea typeface="Canva Sans"/>
                <a:cs typeface="Canva Sans"/>
                <a:sym typeface="Canva Sans"/>
              </a:rPr>
              <a:t>The user can update or delete subscriptions whenever needed.</a:t>
            </a:r>
          </a:p>
          <a:p>
            <a:pPr algn="l">
              <a:lnSpc>
                <a:spcPts val="3056"/>
              </a:lnSpc>
            </a:pPr>
            <a:endParaRPr lang="en-US" sz="2183">
              <a:solidFill>
                <a:srgbClr val="1E293B"/>
              </a:solidFill>
              <a:latin typeface="Canva Sans"/>
              <a:ea typeface="Canva Sans"/>
              <a:cs typeface="Canva Sans"/>
              <a:sym typeface="Canva San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rot="-10800000">
            <a:off x="0" y="0"/>
            <a:ext cx="367633" cy="10287000"/>
            <a:chOff x="0" y="0"/>
            <a:chExt cx="96825" cy="2709333"/>
          </a:xfrm>
        </p:grpSpPr>
        <p:sp>
          <p:nvSpPr>
            <p:cNvPr id="3" name="Freeform 3"/>
            <p:cNvSpPr/>
            <p:nvPr/>
          </p:nvSpPr>
          <p:spPr>
            <a:xfrm>
              <a:off x="0" y="0"/>
              <a:ext cx="96825" cy="2709333"/>
            </a:xfrm>
            <a:custGeom>
              <a:avLst/>
              <a:gdLst/>
              <a:ahLst/>
              <a:cxnLst/>
              <a:rect l="l" t="t" r="r" b="b"/>
              <a:pathLst>
                <a:path w="96825" h="2709333">
                  <a:moveTo>
                    <a:pt x="0" y="0"/>
                  </a:moveTo>
                  <a:lnTo>
                    <a:pt x="96825" y="0"/>
                  </a:lnTo>
                  <a:lnTo>
                    <a:pt x="96825" y="2709333"/>
                  </a:lnTo>
                  <a:lnTo>
                    <a:pt x="0" y="2709333"/>
                  </a:lnTo>
                  <a:close/>
                </a:path>
              </a:pathLst>
            </a:custGeom>
            <a:gradFill rotWithShape="1">
              <a:gsLst>
                <a:gs pos="0">
                  <a:srgbClr val="60A5FA">
                    <a:alpha val="100000"/>
                  </a:srgbClr>
                </a:gs>
                <a:gs pos="100000">
                  <a:srgbClr val="FFFFFF">
                    <a:alpha val="100000"/>
                  </a:srgbClr>
                </a:gs>
              </a:gsLst>
              <a:lin ang="2700000"/>
            </a:gradFill>
          </p:spPr>
          <p:txBody>
            <a:bodyPr/>
            <a:lstStyle/>
            <a:p>
              <a:endParaRPr lang="en-IN"/>
            </a:p>
          </p:txBody>
        </p:sp>
        <p:sp>
          <p:nvSpPr>
            <p:cNvPr id="4" name="TextBox 4"/>
            <p:cNvSpPr txBox="1"/>
            <p:nvPr/>
          </p:nvSpPr>
          <p:spPr>
            <a:xfrm>
              <a:off x="0" y="-38100"/>
              <a:ext cx="96825" cy="2747433"/>
            </a:xfrm>
            <a:prstGeom prst="rect">
              <a:avLst/>
            </a:prstGeom>
          </p:spPr>
          <p:txBody>
            <a:bodyPr lIns="50800" tIns="50800" rIns="50800" bIns="50800" rtlCol="0" anchor="ctr"/>
            <a:lstStyle/>
            <a:p>
              <a:pPr algn="ctr">
                <a:lnSpc>
                  <a:spcPts val="2659"/>
                </a:lnSpc>
                <a:spcBef>
                  <a:spcPct val="0"/>
                </a:spcBef>
              </a:pPr>
              <a:endParaRPr/>
            </a:p>
          </p:txBody>
        </p:sp>
      </p:grpSp>
      <p:sp>
        <p:nvSpPr>
          <p:cNvPr id="5" name="Freeform 5"/>
          <p:cNvSpPr/>
          <p:nvPr/>
        </p:nvSpPr>
        <p:spPr>
          <a:xfrm>
            <a:off x="1028700" y="891823"/>
            <a:ext cx="847008" cy="847008"/>
          </a:xfrm>
          <a:custGeom>
            <a:avLst/>
            <a:gdLst/>
            <a:ahLst/>
            <a:cxnLst/>
            <a:rect l="l" t="t" r="r" b="b"/>
            <a:pathLst>
              <a:path w="847008" h="847008">
                <a:moveTo>
                  <a:pt x="0" y="0"/>
                </a:moveTo>
                <a:lnTo>
                  <a:pt x="847008" y="0"/>
                </a:lnTo>
                <a:lnTo>
                  <a:pt x="847008" y="847008"/>
                </a:lnTo>
                <a:lnTo>
                  <a:pt x="0" y="847008"/>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IN"/>
          </a:p>
        </p:txBody>
      </p:sp>
      <p:sp>
        <p:nvSpPr>
          <p:cNvPr id="6" name="AutoShape 6"/>
          <p:cNvSpPr/>
          <p:nvPr/>
        </p:nvSpPr>
        <p:spPr>
          <a:xfrm>
            <a:off x="1257501" y="8066575"/>
            <a:ext cx="0" cy="867546"/>
          </a:xfrm>
          <a:prstGeom prst="line">
            <a:avLst/>
          </a:prstGeom>
          <a:ln w="57150" cap="rnd">
            <a:solidFill>
              <a:srgbClr val="60A5FA"/>
            </a:solidFill>
            <a:prstDash val="solid"/>
            <a:headEnd type="none" w="sm" len="sm"/>
            <a:tailEnd type="none" w="sm" len="sm"/>
          </a:ln>
        </p:spPr>
        <p:txBody>
          <a:bodyPr/>
          <a:lstStyle/>
          <a:p>
            <a:endParaRPr lang="en-IN"/>
          </a:p>
        </p:txBody>
      </p:sp>
      <p:grpSp>
        <p:nvGrpSpPr>
          <p:cNvPr id="7" name="Group 7"/>
          <p:cNvGrpSpPr/>
          <p:nvPr/>
        </p:nvGrpSpPr>
        <p:grpSpPr>
          <a:xfrm>
            <a:off x="10191726" y="1580598"/>
            <a:ext cx="7244181" cy="7244181"/>
            <a:chOff x="0" y="0"/>
            <a:chExt cx="812800" cy="812800"/>
          </a:xfrm>
        </p:grpSpPr>
        <p:sp>
          <p:nvSpPr>
            <p:cNvPr id="8" name="Freeform 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gradFill rotWithShape="1">
              <a:gsLst>
                <a:gs pos="0">
                  <a:srgbClr val="60A5FA">
                    <a:alpha val="100000"/>
                  </a:srgbClr>
                </a:gs>
                <a:gs pos="100000">
                  <a:srgbClr val="FFFFFF">
                    <a:alpha val="100000"/>
                  </a:srgbClr>
                </a:gs>
              </a:gsLst>
              <a:lin ang="5400000"/>
            </a:gradFill>
            <a:ln cap="sq">
              <a:noFill/>
              <a:prstDash val="solid"/>
              <a:miter/>
            </a:ln>
          </p:spPr>
          <p:txBody>
            <a:bodyPr/>
            <a:lstStyle/>
            <a:p>
              <a:endParaRPr lang="en-IN"/>
            </a:p>
          </p:txBody>
        </p:sp>
        <p:sp>
          <p:nvSpPr>
            <p:cNvPr id="9" name="TextBox 9"/>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10" name="Group 10"/>
          <p:cNvGrpSpPr/>
          <p:nvPr/>
        </p:nvGrpSpPr>
        <p:grpSpPr>
          <a:xfrm>
            <a:off x="10319354" y="-4277500"/>
            <a:ext cx="7116554" cy="7116554"/>
            <a:chOff x="0" y="0"/>
            <a:chExt cx="812800" cy="812800"/>
          </a:xfrm>
        </p:grpSpPr>
        <p:sp>
          <p:nvSpPr>
            <p:cNvPr id="11" name="Freeform 1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47625" cap="sq">
              <a:solidFill>
                <a:srgbClr val="60A5FA"/>
              </a:solidFill>
              <a:prstDash val="solid"/>
              <a:miter/>
            </a:ln>
          </p:spPr>
          <p:txBody>
            <a:bodyPr/>
            <a:lstStyle/>
            <a:p>
              <a:endParaRPr lang="en-IN"/>
            </a:p>
          </p:txBody>
        </p:sp>
        <p:sp>
          <p:nvSpPr>
            <p:cNvPr id="12" name="TextBox 12"/>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grpSp>
        <p:nvGrpSpPr>
          <p:cNvPr id="13" name="Group 13"/>
          <p:cNvGrpSpPr/>
          <p:nvPr/>
        </p:nvGrpSpPr>
        <p:grpSpPr>
          <a:xfrm>
            <a:off x="10191726" y="6977077"/>
            <a:ext cx="7244181" cy="7244181"/>
            <a:chOff x="0" y="0"/>
            <a:chExt cx="812800" cy="812800"/>
          </a:xfrm>
        </p:grpSpPr>
        <p:sp>
          <p:nvSpPr>
            <p:cNvPr id="14" name="Freeform 1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ln w="952500" cap="sq">
              <a:gradFill>
                <a:gsLst>
                  <a:gs pos="0">
                    <a:srgbClr val="60A5FA">
                      <a:alpha val="100000"/>
                    </a:srgbClr>
                  </a:gs>
                  <a:gs pos="100000">
                    <a:srgbClr val="FFFFFF">
                      <a:alpha val="100000"/>
                    </a:srgbClr>
                  </a:gs>
                </a:gsLst>
                <a:lin ang="5400000"/>
              </a:gradFill>
              <a:prstDash val="solid"/>
              <a:miter/>
            </a:ln>
          </p:spPr>
          <p:txBody>
            <a:bodyPr/>
            <a:lstStyle/>
            <a:p>
              <a:endParaRPr lang="en-IN"/>
            </a:p>
          </p:txBody>
        </p:sp>
        <p:sp>
          <p:nvSpPr>
            <p:cNvPr id="15" name="TextBox 15"/>
            <p:cNvSpPr txBox="1"/>
            <p:nvPr/>
          </p:nvSpPr>
          <p:spPr>
            <a:xfrm>
              <a:off x="76200" y="28575"/>
              <a:ext cx="660400" cy="708025"/>
            </a:xfrm>
            <a:prstGeom prst="rect">
              <a:avLst/>
            </a:prstGeom>
          </p:spPr>
          <p:txBody>
            <a:bodyPr lIns="50800" tIns="50800" rIns="50800" bIns="50800" rtlCol="0" anchor="ctr"/>
            <a:lstStyle/>
            <a:p>
              <a:pPr algn="ctr">
                <a:lnSpc>
                  <a:spcPts val="3499"/>
                </a:lnSpc>
              </a:pPr>
              <a:endParaRPr/>
            </a:p>
          </p:txBody>
        </p:sp>
      </p:grpSp>
      <p:sp>
        <p:nvSpPr>
          <p:cNvPr id="16" name="TextBox 16"/>
          <p:cNvSpPr txBox="1"/>
          <p:nvPr/>
        </p:nvSpPr>
        <p:spPr>
          <a:xfrm>
            <a:off x="1028700" y="3055194"/>
            <a:ext cx="9537689" cy="1987549"/>
          </a:xfrm>
          <a:prstGeom prst="rect">
            <a:avLst/>
          </a:prstGeom>
        </p:spPr>
        <p:txBody>
          <a:bodyPr lIns="0" tIns="0" rIns="0" bIns="0" rtlCol="0" anchor="t">
            <a:spAutoFit/>
          </a:bodyPr>
          <a:lstStyle/>
          <a:p>
            <a:pPr algn="just">
              <a:lnSpc>
                <a:spcPts val="15400"/>
              </a:lnSpc>
            </a:pPr>
            <a:r>
              <a:rPr lang="en-US" sz="11000" b="1">
                <a:solidFill>
                  <a:srgbClr val="1E293B"/>
                </a:solidFill>
                <a:latin typeface="Poppins Semi-Bold"/>
                <a:ea typeface="Poppins Semi-Bold"/>
                <a:cs typeface="Poppins Semi-Bold"/>
                <a:sym typeface="Poppins Semi-Bold"/>
              </a:rPr>
              <a:t>Thank</a:t>
            </a:r>
          </a:p>
        </p:txBody>
      </p:sp>
      <p:sp>
        <p:nvSpPr>
          <p:cNvPr id="17" name="TextBox 17"/>
          <p:cNvSpPr txBox="1"/>
          <p:nvPr/>
        </p:nvSpPr>
        <p:spPr>
          <a:xfrm>
            <a:off x="1028700" y="4450251"/>
            <a:ext cx="7640629" cy="1987549"/>
          </a:xfrm>
          <a:prstGeom prst="rect">
            <a:avLst/>
          </a:prstGeom>
        </p:spPr>
        <p:txBody>
          <a:bodyPr lIns="0" tIns="0" rIns="0" bIns="0" rtlCol="0" anchor="t">
            <a:spAutoFit/>
          </a:bodyPr>
          <a:lstStyle/>
          <a:p>
            <a:pPr algn="just">
              <a:lnSpc>
                <a:spcPts val="15400"/>
              </a:lnSpc>
            </a:pPr>
            <a:r>
              <a:rPr lang="en-US" sz="11000" b="1">
                <a:solidFill>
                  <a:srgbClr val="1E293B"/>
                </a:solidFill>
                <a:latin typeface="Poppins Semi-Bold"/>
                <a:ea typeface="Poppins Semi-Bold"/>
                <a:cs typeface="Poppins Semi-Bold"/>
                <a:sym typeface="Poppins Semi-Bold"/>
              </a:rPr>
              <a:t>You</a:t>
            </a:r>
          </a:p>
        </p:txBody>
      </p:sp>
      <p:sp>
        <p:nvSpPr>
          <p:cNvPr id="18" name="TextBox 18"/>
          <p:cNvSpPr txBox="1"/>
          <p:nvPr/>
        </p:nvSpPr>
        <p:spPr>
          <a:xfrm>
            <a:off x="2255701" y="1080396"/>
            <a:ext cx="6476137" cy="422275"/>
          </a:xfrm>
          <a:prstGeom prst="rect">
            <a:avLst/>
          </a:prstGeom>
        </p:spPr>
        <p:txBody>
          <a:bodyPr lIns="0" tIns="0" rIns="0" bIns="0" rtlCol="0" anchor="t">
            <a:spAutoFit/>
          </a:bodyPr>
          <a:lstStyle/>
          <a:p>
            <a:pPr algn="l">
              <a:lnSpc>
                <a:spcPts val="3499"/>
              </a:lnSpc>
            </a:pPr>
            <a:r>
              <a:rPr lang="en-US" sz="2499" b="1">
                <a:solidFill>
                  <a:srgbClr val="1E293B"/>
                </a:solidFill>
                <a:latin typeface="Open Sans Bold"/>
                <a:ea typeface="Open Sans Bold"/>
                <a:cs typeface="Open Sans Bold"/>
                <a:sym typeface="Open Sans Bold"/>
              </a:rPr>
              <a:t>Subscription Tracking Application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533</Words>
  <Application>Microsoft Office PowerPoint</Application>
  <PresentationFormat>Custom</PresentationFormat>
  <Paragraphs>131</Paragraphs>
  <Slides>9</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vt:i4>
      </vt:variant>
    </vt:vector>
  </HeadingPairs>
  <TitlesOfParts>
    <vt:vector size="17" baseType="lpstr">
      <vt:lpstr>Open Sans</vt:lpstr>
      <vt:lpstr>Arial</vt:lpstr>
      <vt:lpstr>Poppins Semi-Bold</vt:lpstr>
      <vt:lpstr>Canva Sans</vt:lpstr>
      <vt:lpstr>Open Sans Bold</vt:lpstr>
      <vt:lpstr>Canva Sans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ollah</dc:title>
  <cp:lastModifiedBy>Shasank M. Shah</cp:lastModifiedBy>
  <cp:revision>2</cp:revision>
  <dcterms:created xsi:type="dcterms:W3CDTF">2006-08-16T00:00:00Z</dcterms:created>
  <dcterms:modified xsi:type="dcterms:W3CDTF">2026-08-08T01:03:26Z</dcterms:modified>
  <dc:identifier>DAHRnO8qVow</dc:identifier>
</cp:coreProperties>
</file>
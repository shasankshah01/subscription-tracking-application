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panose="020B0604020202020204" charset="0"/>
      <p:regular r:id="rId11"/>
    </p:embeddedFont>
    <p:embeddedFont>
      <p:font typeface="Canva Sans Bold" panose="020B0604020202020204" charset="0"/>
      <p:regular r:id="rId12"/>
    </p:embeddedFont>
    <p:embeddedFont>
      <p:font typeface="Open Sans" panose="020B0606030504020204" pitchFamily="34" charset="0"/>
      <p:regular r:id="rId13"/>
    </p:embeddedFont>
    <p:embeddedFont>
      <p:font typeface="Open Sans Bold" panose="020B0604020202020204" charset="0"/>
      <p:regular r:id="rId14"/>
    </p:embeddedFont>
    <p:embeddedFont>
      <p:font typeface="Poppins Semi-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AutoShape 6"/>
          <p:cNvSpPr/>
          <p:nvPr/>
        </p:nvSpPr>
        <p:spPr>
          <a:xfrm>
            <a:off x="1257501" y="8066575"/>
            <a:ext cx="0" cy="867546"/>
          </a:xfrm>
          <a:prstGeom prst="line">
            <a:avLst/>
          </a:prstGeom>
          <a:ln w="57150" cap="rnd">
            <a:solidFill>
              <a:srgbClr val="60A5FA"/>
            </a:solidFill>
            <a:prstDash val="solid"/>
            <a:headEnd type="none" w="sm" len="sm"/>
            <a:tailEnd type="none" w="sm" len="sm"/>
          </a:ln>
        </p:spPr>
        <p:txBody>
          <a:bodyPr/>
          <a:lstStyle/>
          <a:p>
            <a:endParaRPr lang="en-IN"/>
          </a:p>
        </p:txBody>
      </p:sp>
      <p:grpSp>
        <p:nvGrpSpPr>
          <p:cNvPr id="7" name="Group 7"/>
          <p:cNvGrpSpPr/>
          <p:nvPr/>
        </p:nvGrpSpPr>
        <p:grpSpPr>
          <a:xfrm>
            <a:off x="10191726" y="1580598"/>
            <a:ext cx="7244181" cy="724418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10319354" y="-4277500"/>
            <a:ext cx="7116554" cy="711655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txBody>
            <a:bodyPr/>
            <a:lstStyle/>
            <a:p>
              <a:endParaRPr lang="en-IN"/>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10191726" y="6977077"/>
            <a:ext cx="7244181" cy="724418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txBody>
            <a:bodyPr/>
            <a:lstStyle/>
            <a:p>
              <a:endParaRPr lang="en-IN"/>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1028700" y="3159969"/>
            <a:ext cx="6088491" cy="3770632"/>
          </a:xfrm>
          <a:prstGeom prst="rect">
            <a:avLst/>
          </a:prstGeom>
        </p:spPr>
        <p:txBody>
          <a:bodyPr lIns="0" tIns="0" rIns="0" bIns="0" rtlCol="0" anchor="t">
            <a:spAutoFit/>
          </a:bodyPr>
          <a:lstStyle/>
          <a:p>
            <a:pPr algn="just">
              <a:lnSpc>
                <a:spcPts val="9830"/>
              </a:lnSpc>
            </a:pPr>
            <a:r>
              <a:rPr lang="en-US" sz="7021" b="1">
                <a:solidFill>
                  <a:srgbClr val="1E293B"/>
                </a:solidFill>
                <a:latin typeface="Poppins Semi-Bold"/>
                <a:ea typeface="Poppins Semi-Bold"/>
                <a:cs typeface="Poppins Semi-Bold"/>
                <a:sym typeface="Poppins Semi-Bold"/>
              </a:rPr>
              <a:t>Subscription Tracking Application </a:t>
            </a:r>
          </a:p>
        </p:txBody>
      </p:sp>
      <p:sp>
        <p:nvSpPr>
          <p:cNvPr id="17" name="TextBox 17"/>
          <p:cNvSpPr txBox="1"/>
          <p:nvPr/>
        </p:nvSpPr>
        <p:spPr>
          <a:xfrm>
            <a:off x="2255701" y="1080396"/>
            <a:ext cx="5598194"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18" name="TextBox 18"/>
          <p:cNvSpPr txBox="1"/>
          <p:nvPr/>
        </p:nvSpPr>
        <p:spPr>
          <a:xfrm>
            <a:off x="1624608" y="8018950"/>
            <a:ext cx="3976232" cy="422238"/>
          </a:xfrm>
          <a:prstGeom prst="rect">
            <a:avLst/>
          </a:prstGeom>
        </p:spPr>
        <p:txBody>
          <a:bodyPr lIns="0" tIns="0" rIns="0" bIns="0" rtlCol="0" anchor="t">
            <a:spAutoFit/>
          </a:bodyPr>
          <a:lstStyle/>
          <a:p>
            <a:pPr algn="l">
              <a:lnSpc>
                <a:spcPts val="3499"/>
              </a:lnSpc>
            </a:pPr>
            <a:r>
              <a:rPr lang="en-US" sz="2499" b="1" dirty="0">
                <a:solidFill>
                  <a:srgbClr val="1E293B"/>
                </a:solidFill>
                <a:latin typeface="Open Sans Bold"/>
                <a:ea typeface="Open Sans Bold"/>
                <a:cs typeface="Open Sans Bold"/>
                <a:sym typeface="Open Sans Bold"/>
              </a:rPr>
              <a:t>Presented by:</a:t>
            </a:r>
          </a:p>
        </p:txBody>
      </p:sp>
      <p:sp>
        <p:nvSpPr>
          <p:cNvPr id="19" name="TextBox 19"/>
          <p:cNvSpPr txBox="1"/>
          <p:nvPr/>
        </p:nvSpPr>
        <p:spPr>
          <a:xfrm>
            <a:off x="1624608" y="8511884"/>
            <a:ext cx="3976232" cy="1317027"/>
          </a:xfrm>
          <a:prstGeom prst="rect">
            <a:avLst/>
          </a:prstGeom>
        </p:spPr>
        <p:txBody>
          <a:bodyPr lIns="0" tIns="0" rIns="0" bIns="0" rtlCol="0" anchor="t">
            <a:spAutoFit/>
          </a:bodyPr>
          <a:lstStyle/>
          <a:p>
            <a:pPr algn="l">
              <a:lnSpc>
                <a:spcPts val="3499"/>
              </a:lnSpc>
            </a:pPr>
            <a:r>
              <a:rPr lang="en-US" sz="2499" dirty="0">
                <a:solidFill>
                  <a:srgbClr val="1E293B"/>
                </a:solidFill>
                <a:latin typeface="Open Sans"/>
                <a:ea typeface="Open Sans"/>
                <a:cs typeface="Open Sans"/>
                <a:sym typeface="Open Sans"/>
              </a:rPr>
              <a:t>Ankit Aryan</a:t>
            </a:r>
          </a:p>
          <a:p>
            <a:pPr algn="l">
              <a:lnSpc>
                <a:spcPts val="3499"/>
              </a:lnSpc>
            </a:pPr>
            <a:r>
              <a:rPr lang="en-US" sz="2499" dirty="0">
                <a:solidFill>
                  <a:srgbClr val="1E293B"/>
                </a:solidFill>
                <a:latin typeface="Open Sans"/>
                <a:ea typeface="Open Sans"/>
                <a:cs typeface="Open Sans"/>
                <a:sym typeface="Open Sans"/>
              </a:rPr>
              <a:t>Shasank M Shah</a:t>
            </a:r>
          </a:p>
          <a:p>
            <a:pPr algn="l">
              <a:lnSpc>
                <a:spcPts val="3499"/>
              </a:lnSpc>
            </a:pPr>
            <a:r>
              <a:rPr lang="en-US" sz="2499" dirty="0">
                <a:solidFill>
                  <a:srgbClr val="1E293B"/>
                </a:solidFill>
                <a:latin typeface="Open Sans"/>
                <a:ea typeface="Open Sans"/>
                <a:cs typeface="Open Sans"/>
                <a:sym typeface="Open Sans"/>
              </a:rPr>
              <a:t>Puneet Solanki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55701" y="1080396"/>
            <a:ext cx="5970204"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1028700" y="2352663"/>
            <a:ext cx="8567762" cy="1404648"/>
          </a:xfrm>
          <a:prstGeom prst="rect">
            <a:avLst/>
          </a:prstGeom>
        </p:spPr>
        <p:txBody>
          <a:bodyPr lIns="0" tIns="0" rIns="0" bIns="0" rtlCol="0" anchor="t">
            <a:spAutoFit/>
          </a:bodyPr>
          <a:lstStyle/>
          <a:p>
            <a:pPr algn="l">
              <a:lnSpc>
                <a:spcPts val="9808"/>
              </a:lnSpc>
            </a:pPr>
            <a:r>
              <a:rPr lang="en-US" sz="10008" b="1">
                <a:solidFill>
                  <a:srgbClr val="1E293B"/>
                </a:solidFill>
                <a:latin typeface="Poppins Semi-Bold"/>
                <a:ea typeface="Poppins Semi-Bold"/>
                <a:cs typeface="Poppins Semi-Bold"/>
                <a:sym typeface="Poppins Semi-Bold"/>
              </a:rPr>
              <a:t> Introduction</a:t>
            </a:r>
          </a:p>
        </p:txBody>
      </p:sp>
      <p:sp>
        <p:nvSpPr>
          <p:cNvPr id="8" name="TextBox 8"/>
          <p:cNvSpPr txBox="1"/>
          <p:nvPr/>
        </p:nvSpPr>
        <p:spPr>
          <a:xfrm>
            <a:off x="1452204" y="5411846"/>
            <a:ext cx="7662838" cy="348932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The Subscription Tracking Application is a web-based system designed to help users manage all of their subscriptions in one place. Many people subscribe to services such as Netflix, Spotify, JioHotstar, cloud storage, gyms, and software platforms. Over time, it becomes difficult to remember renewal dates and total expenses, resulting in unnecessary payments.</a:t>
            </a:r>
          </a:p>
        </p:txBody>
      </p:sp>
      <p:sp>
        <p:nvSpPr>
          <p:cNvPr id="9" name="TextBox 9"/>
          <p:cNvSpPr txBox="1"/>
          <p:nvPr/>
        </p:nvSpPr>
        <p:spPr>
          <a:xfrm>
            <a:off x="10577537" y="2295525"/>
            <a:ext cx="7662838" cy="699452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Objectives</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Track all subscriptions in one application.</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Display monthly and yearly subscription expenses.</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Notify users about upcoming renewals.</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Help users save money through better expense management.</a:t>
            </a:r>
          </a:p>
          <a:p>
            <a:pPr algn="l">
              <a:lnSpc>
                <a:spcPts val="3499"/>
              </a:lnSpc>
            </a:pPr>
            <a:endParaRPr lang="en-US" sz="2499">
              <a:solidFill>
                <a:srgbClr val="1E293B"/>
              </a:solidFill>
              <a:latin typeface="Open Sans"/>
              <a:ea typeface="Open Sans"/>
              <a:cs typeface="Open Sans"/>
              <a:sym typeface="Open Sans"/>
            </a:endParaRPr>
          </a:p>
          <a:p>
            <a:pPr algn="l">
              <a:lnSpc>
                <a:spcPts val="3499"/>
              </a:lnSpc>
            </a:pPr>
            <a:r>
              <a:rPr lang="en-US" sz="2499" b="1">
                <a:solidFill>
                  <a:srgbClr val="1E293B"/>
                </a:solidFill>
                <a:latin typeface="Open Sans Bold"/>
                <a:ea typeface="Open Sans Bold"/>
                <a:cs typeface="Open Sans Bold"/>
                <a:sym typeface="Open Sans Bold"/>
              </a:rPr>
              <a:t>Main Features</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User Registration and Login</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Subscription CRUD (Create, Read, Update, Delete)</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Dashboard Analytics</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Renewal Tracking</a:t>
            </a:r>
          </a:p>
          <a:p>
            <a:pPr marL="539749" lvl="1" indent="-269875" algn="l">
              <a:lnSpc>
                <a:spcPts val="3499"/>
              </a:lnSpc>
              <a:buFont typeface="Arial"/>
              <a:buChar char="•"/>
            </a:pPr>
            <a:r>
              <a:rPr lang="en-US" sz="2499">
                <a:solidFill>
                  <a:srgbClr val="1E293B"/>
                </a:solidFill>
                <a:latin typeface="Open Sans"/>
                <a:ea typeface="Open Sans"/>
                <a:cs typeface="Open Sans"/>
                <a:sym typeface="Open Sans"/>
              </a:rPr>
              <a:t>Secure Data Storage</a:t>
            </a:r>
          </a:p>
          <a:p>
            <a:pPr algn="l">
              <a:lnSpc>
                <a:spcPts val="3499"/>
              </a:lnSpc>
            </a:pPr>
            <a:endParaRPr lang="en-US" sz="2499">
              <a:solidFill>
                <a:srgbClr val="1E293B"/>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55701" y="1080396"/>
            <a:ext cx="6877908"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831912" y="2141011"/>
            <a:ext cx="13094312"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 Organization Profile</a:t>
            </a:r>
          </a:p>
        </p:txBody>
      </p:sp>
      <p:sp>
        <p:nvSpPr>
          <p:cNvPr id="8" name="TextBox 8"/>
          <p:cNvSpPr txBox="1"/>
          <p:nvPr/>
        </p:nvSpPr>
        <p:spPr>
          <a:xfrm>
            <a:off x="1875708" y="3783920"/>
            <a:ext cx="9782892" cy="6200928"/>
          </a:xfrm>
          <a:prstGeom prst="rect">
            <a:avLst/>
          </a:prstGeom>
        </p:spPr>
        <p:txBody>
          <a:bodyPr wrap="square" lIns="0" tIns="0" rIns="0" bIns="0" rtlCol="0" anchor="t">
            <a:spAutoFit/>
          </a:bodyPr>
          <a:lstStyle/>
          <a:p>
            <a:pPr algn="l">
              <a:lnSpc>
                <a:spcPts val="3086"/>
              </a:lnSpc>
            </a:pPr>
            <a:r>
              <a:rPr lang="en-US" sz="2204" b="1" dirty="0">
                <a:solidFill>
                  <a:srgbClr val="1E293B"/>
                </a:solidFill>
                <a:latin typeface="Open Sans Bold"/>
                <a:ea typeface="Open Sans Bold"/>
                <a:cs typeface="Open Sans Bold"/>
                <a:sym typeface="Open Sans Bold"/>
              </a:rPr>
              <a:t>Project Name: </a:t>
            </a:r>
            <a:r>
              <a:rPr lang="en-US" sz="2204" dirty="0">
                <a:solidFill>
                  <a:srgbClr val="1E293B"/>
                </a:solidFill>
                <a:latin typeface="Open Sans"/>
                <a:ea typeface="Open Sans"/>
                <a:cs typeface="Open Sans"/>
                <a:sym typeface="Open Sans"/>
              </a:rPr>
              <a:t>Subscription Tracking Application</a:t>
            </a:r>
          </a:p>
          <a:p>
            <a:pPr algn="l">
              <a:lnSpc>
                <a:spcPts val="3086"/>
              </a:lnSpc>
            </a:pPr>
            <a:r>
              <a:rPr lang="en-US" sz="2204" b="1" dirty="0">
                <a:solidFill>
                  <a:srgbClr val="1E293B"/>
                </a:solidFill>
                <a:latin typeface="Open Sans Bold"/>
                <a:ea typeface="Open Sans Bold"/>
                <a:cs typeface="Open Sans Bold"/>
                <a:sym typeface="Open Sans Bold"/>
              </a:rPr>
              <a:t>Project Type: </a:t>
            </a:r>
            <a:r>
              <a:rPr lang="en-US" sz="2204" dirty="0">
                <a:solidFill>
                  <a:srgbClr val="1E293B"/>
                </a:solidFill>
                <a:latin typeface="Open Sans"/>
                <a:ea typeface="Open Sans"/>
                <a:cs typeface="Open Sans"/>
                <a:sym typeface="Open Sans"/>
              </a:rPr>
              <a:t>Web Application</a:t>
            </a:r>
          </a:p>
          <a:p>
            <a:pPr>
              <a:lnSpc>
                <a:spcPts val="3499"/>
              </a:lnSpc>
            </a:pPr>
            <a:r>
              <a:rPr lang="en-US" sz="2204" b="1" dirty="0">
                <a:solidFill>
                  <a:srgbClr val="1E293B"/>
                </a:solidFill>
                <a:latin typeface="Open Sans Bold"/>
                <a:ea typeface="Open Sans Bold"/>
                <a:cs typeface="Open Sans Bold"/>
                <a:sym typeface="Open Sans Bold"/>
              </a:rPr>
              <a:t>Developed By:</a:t>
            </a:r>
            <a:r>
              <a:rPr lang="en-US" sz="2204" dirty="0">
                <a:solidFill>
                  <a:srgbClr val="1E293B"/>
                </a:solidFill>
                <a:latin typeface="Open Sans"/>
                <a:ea typeface="Open Sans"/>
                <a:cs typeface="Open Sans"/>
                <a:sym typeface="Open Sans"/>
              </a:rPr>
              <a:t> </a:t>
            </a:r>
            <a:r>
              <a:rPr lang="en-US" sz="2200" dirty="0">
                <a:solidFill>
                  <a:srgbClr val="1E293B"/>
                </a:solidFill>
                <a:latin typeface="Open Sans"/>
                <a:ea typeface="Open Sans"/>
                <a:cs typeface="Open Sans"/>
                <a:sym typeface="Open Sans"/>
              </a:rPr>
              <a:t>Ankit </a:t>
            </a:r>
            <a:r>
              <a:rPr lang="en-US" sz="2200" dirty="0" err="1">
                <a:solidFill>
                  <a:srgbClr val="1E293B"/>
                </a:solidFill>
                <a:latin typeface="Open Sans"/>
                <a:ea typeface="Open Sans"/>
                <a:cs typeface="Open Sans"/>
                <a:sym typeface="Open Sans"/>
              </a:rPr>
              <a:t>Aryan,Shasank</a:t>
            </a:r>
            <a:r>
              <a:rPr lang="en-US" sz="2200" dirty="0">
                <a:solidFill>
                  <a:srgbClr val="1E293B"/>
                </a:solidFill>
                <a:latin typeface="Open Sans"/>
                <a:ea typeface="Open Sans"/>
                <a:cs typeface="Open Sans"/>
                <a:sym typeface="Open Sans"/>
              </a:rPr>
              <a:t> M </a:t>
            </a:r>
            <a:r>
              <a:rPr lang="en-US" sz="2200" dirty="0" err="1">
                <a:solidFill>
                  <a:srgbClr val="1E293B"/>
                </a:solidFill>
                <a:latin typeface="Open Sans"/>
                <a:ea typeface="Open Sans"/>
                <a:cs typeface="Open Sans"/>
                <a:sym typeface="Open Sans"/>
              </a:rPr>
              <a:t>Shah,Puneet</a:t>
            </a:r>
            <a:r>
              <a:rPr lang="en-US" sz="2200" dirty="0">
                <a:solidFill>
                  <a:srgbClr val="1E293B"/>
                </a:solidFill>
                <a:latin typeface="Open Sans"/>
                <a:ea typeface="Open Sans"/>
                <a:cs typeface="Open Sans"/>
                <a:sym typeface="Open Sans"/>
              </a:rPr>
              <a:t> Solanki(MCA Mini Project)</a:t>
            </a:r>
          </a:p>
          <a:p>
            <a:pPr algn="l">
              <a:lnSpc>
                <a:spcPts val="3086"/>
              </a:lnSpc>
            </a:pPr>
            <a:endParaRPr lang="en-US" sz="2204" dirty="0">
              <a:solidFill>
                <a:srgbClr val="1E293B"/>
              </a:solidFill>
              <a:latin typeface="Open Sans"/>
              <a:ea typeface="Open Sans"/>
              <a:cs typeface="Open Sans"/>
              <a:sym typeface="Open Sans"/>
            </a:endParaRPr>
          </a:p>
          <a:p>
            <a:r>
              <a:rPr lang="en-IN" sz="2400" b="1"/>
              <a:t>The MERN Stack (Modern) </a:t>
            </a:r>
            <a:endParaRPr lang="en-IN" sz="2400"/>
          </a:p>
          <a:p>
            <a:r>
              <a:rPr lang="en-US" sz="2200"/>
              <a:t>Frontend: React.js, Tailwind CSS. </a:t>
            </a:r>
          </a:p>
          <a:p>
            <a:r>
              <a:rPr lang="en-US" sz="2200"/>
              <a:t>Backend: Node.js, Express.js. </a:t>
            </a:r>
          </a:p>
          <a:p>
            <a:r>
              <a:rPr lang="en-IN" sz="2200"/>
              <a:t>Database: MongoDB. </a:t>
            </a:r>
          </a:p>
          <a:p>
            <a:pPr algn="l">
              <a:lnSpc>
                <a:spcPts val="3086"/>
              </a:lnSpc>
            </a:pPr>
            <a:endParaRPr lang="en-US" sz="2204" b="1">
              <a:solidFill>
                <a:srgbClr val="1E293B"/>
              </a:solidFill>
              <a:latin typeface="Open Sans Bold"/>
              <a:ea typeface="Open Sans Bold"/>
              <a:cs typeface="Open Sans Bold"/>
              <a:sym typeface="Open Sans Bold"/>
            </a:endParaRPr>
          </a:p>
          <a:p>
            <a:pPr algn="l">
              <a:lnSpc>
                <a:spcPts val="3086"/>
              </a:lnSpc>
            </a:pPr>
            <a:r>
              <a:rPr lang="en-US" sz="2204" b="1">
                <a:solidFill>
                  <a:srgbClr val="1E293B"/>
                </a:solidFill>
                <a:latin typeface="Open Sans Bold"/>
                <a:ea typeface="Open Sans Bold"/>
                <a:cs typeface="Open Sans Bold"/>
                <a:sym typeface="Open Sans Bold"/>
              </a:rPr>
              <a:t>Target </a:t>
            </a:r>
            <a:r>
              <a:rPr lang="en-US" sz="2204" b="1" dirty="0">
                <a:solidFill>
                  <a:srgbClr val="1E293B"/>
                </a:solidFill>
                <a:latin typeface="Open Sans Bold"/>
                <a:ea typeface="Open Sans Bold"/>
                <a:cs typeface="Open Sans Bold"/>
                <a:sym typeface="Open Sans Bold"/>
              </a:rPr>
              <a:t>Users</a:t>
            </a:r>
          </a:p>
          <a:p>
            <a:pPr marL="475982" lvl="1" indent="-237991" algn="l">
              <a:lnSpc>
                <a:spcPts val="3086"/>
              </a:lnSpc>
              <a:buFont typeface="Arial"/>
              <a:buChar char="•"/>
            </a:pPr>
            <a:r>
              <a:rPr lang="en-US" sz="2204" dirty="0">
                <a:solidFill>
                  <a:srgbClr val="1E293B"/>
                </a:solidFill>
                <a:latin typeface="Open Sans"/>
                <a:ea typeface="Open Sans"/>
                <a:cs typeface="Open Sans"/>
                <a:sym typeface="Open Sans"/>
              </a:rPr>
              <a:t>Students</a:t>
            </a:r>
          </a:p>
          <a:p>
            <a:pPr marL="475982" lvl="1" indent="-237991" algn="l">
              <a:lnSpc>
                <a:spcPts val="3086"/>
              </a:lnSpc>
              <a:buFont typeface="Arial"/>
              <a:buChar char="•"/>
            </a:pPr>
            <a:r>
              <a:rPr lang="en-US" sz="2204" dirty="0">
                <a:solidFill>
                  <a:srgbClr val="1E293B"/>
                </a:solidFill>
                <a:latin typeface="Open Sans"/>
                <a:ea typeface="Open Sans"/>
                <a:cs typeface="Open Sans"/>
                <a:sym typeface="Open Sans"/>
              </a:rPr>
              <a:t>Working professionals</a:t>
            </a:r>
          </a:p>
          <a:p>
            <a:pPr marL="475982" lvl="1" indent="-237991" algn="l">
              <a:lnSpc>
                <a:spcPts val="3086"/>
              </a:lnSpc>
              <a:buFont typeface="Arial"/>
              <a:buChar char="•"/>
            </a:pPr>
            <a:r>
              <a:rPr lang="en-US" sz="2204" dirty="0">
                <a:solidFill>
                  <a:srgbClr val="1E293B"/>
                </a:solidFill>
                <a:latin typeface="Open Sans"/>
                <a:ea typeface="Open Sans"/>
                <a:cs typeface="Open Sans"/>
                <a:sym typeface="Open Sans"/>
              </a:rPr>
              <a:t>Families</a:t>
            </a:r>
          </a:p>
          <a:p>
            <a:pPr marL="475982" lvl="1" indent="-237991" algn="l">
              <a:lnSpc>
                <a:spcPts val="3086"/>
              </a:lnSpc>
              <a:buFont typeface="Arial"/>
              <a:buChar char="•"/>
            </a:pPr>
            <a:r>
              <a:rPr lang="en-US" sz="2204" dirty="0">
                <a:solidFill>
                  <a:srgbClr val="1E293B"/>
                </a:solidFill>
                <a:latin typeface="Open Sans"/>
                <a:ea typeface="Open Sans"/>
                <a:cs typeface="Open Sans"/>
                <a:sym typeface="Open Sans"/>
              </a:rPr>
              <a:t>Small businesses</a:t>
            </a:r>
          </a:p>
          <a:p>
            <a:pPr algn="l">
              <a:lnSpc>
                <a:spcPts val="3086"/>
              </a:lnSpc>
            </a:pPr>
            <a:endParaRPr lang="en-US" sz="2204" dirty="0">
              <a:solidFill>
                <a:srgbClr val="1E293B"/>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166419" y="1080377"/>
            <a:ext cx="6694854"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1028700" y="2226019"/>
            <a:ext cx="8466511"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Existing System</a:t>
            </a:r>
          </a:p>
        </p:txBody>
      </p:sp>
      <p:sp>
        <p:nvSpPr>
          <p:cNvPr id="8" name="TextBox 8"/>
          <p:cNvSpPr txBox="1"/>
          <p:nvPr/>
        </p:nvSpPr>
        <p:spPr>
          <a:xfrm>
            <a:off x="1452204" y="3316315"/>
            <a:ext cx="6977012" cy="6762186"/>
          </a:xfrm>
          <a:prstGeom prst="rect">
            <a:avLst/>
          </a:prstGeom>
        </p:spPr>
        <p:txBody>
          <a:bodyPr lIns="0" tIns="0" rIns="0" bIns="0" rtlCol="0" anchor="t">
            <a:spAutoFit/>
          </a:bodyPr>
          <a:lstStyle/>
          <a:p>
            <a:pPr algn="l">
              <a:lnSpc>
                <a:spcPts val="3186"/>
              </a:lnSpc>
            </a:pPr>
            <a:r>
              <a:rPr lang="en-US" sz="2276">
                <a:solidFill>
                  <a:srgbClr val="1E293B"/>
                </a:solidFill>
                <a:latin typeface="Open Sans"/>
                <a:ea typeface="Open Sans"/>
                <a:cs typeface="Open Sans"/>
                <a:sym typeface="Open Sans"/>
              </a:rPr>
              <a:t>At present, there is no single platform where users can manage all their subscriptions.</a:t>
            </a:r>
          </a:p>
          <a:p>
            <a:pPr algn="l">
              <a:lnSpc>
                <a:spcPts val="3186"/>
              </a:lnSpc>
            </a:pPr>
            <a:endParaRPr lang="en-US" sz="2276">
              <a:solidFill>
                <a:srgbClr val="1E293B"/>
              </a:solidFill>
              <a:latin typeface="Open Sans"/>
              <a:ea typeface="Open Sans"/>
              <a:cs typeface="Open Sans"/>
              <a:sym typeface="Open Sans"/>
            </a:endParaRPr>
          </a:p>
          <a:p>
            <a:pPr algn="l">
              <a:lnSpc>
                <a:spcPts val="3186"/>
              </a:lnSpc>
            </a:pPr>
            <a:r>
              <a:rPr lang="en-US" sz="2276" b="1">
                <a:solidFill>
                  <a:srgbClr val="1E293B"/>
                </a:solidFill>
                <a:latin typeface="Open Sans Bold"/>
                <a:ea typeface="Open Sans Bold"/>
                <a:cs typeface="Open Sans Bold"/>
                <a:sym typeface="Open Sans Bold"/>
              </a:rPr>
              <a:t>People generally use:</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Mobile reminders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Calendar applications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Paper notes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Excel spreadsheets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Memory</a:t>
            </a:r>
          </a:p>
          <a:p>
            <a:pPr marL="491442" lvl="1" indent="-245721" algn="l">
              <a:lnSpc>
                <a:spcPts val="3186"/>
              </a:lnSpc>
              <a:buFont typeface="Arial"/>
              <a:buChar char="•"/>
            </a:pPr>
            <a:endParaRPr lang="en-US" sz="2276">
              <a:solidFill>
                <a:srgbClr val="1E293B"/>
              </a:solidFill>
              <a:latin typeface="Open Sans"/>
              <a:ea typeface="Open Sans"/>
              <a:cs typeface="Open Sans"/>
              <a:sym typeface="Open Sans"/>
            </a:endParaRPr>
          </a:p>
          <a:p>
            <a:pPr algn="l">
              <a:lnSpc>
                <a:spcPts val="3186"/>
              </a:lnSpc>
            </a:pPr>
            <a:r>
              <a:rPr lang="en-US" sz="2276" b="1">
                <a:solidFill>
                  <a:srgbClr val="1E293B"/>
                </a:solidFill>
                <a:latin typeface="Open Sans Bold"/>
                <a:ea typeface="Open Sans Bold"/>
                <a:cs typeface="Open Sans Bold"/>
                <a:sym typeface="Open Sans Bold"/>
              </a:rPr>
              <a:t>Disadvantages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Information is scattered.</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Users forget renewal dates.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Difficult to calculate expenses.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No analytics or reports.</a:t>
            </a:r>
          </a:p>
          <a:p>
            <a:pPr marL="491442" lvl="1" indent="-245721" algn="l">
              <a:lnSpc>
                <a:spcPts val="3186"/>
              </a:lnSpc>
              <a:buFont typeface="Arial"/>
              <a:buChar char="•"/>
            </a:pPr>
            <a:r>
              <a:rPr lang="en-US" sz="2276">
                <a:solidFill>
                  <a:srgbClr val="1E293B"/>
                </a:solidFill>
                <a:latin typeface="Open Sans"/>
                <a:ea typeface="Open Sans"/>
                <a:cs typeface="Open Sans"/>
                <a:sym typeface="Open Sans"/>
              </a:rPr>
              <a:t>No centralized dashboard.</a:t>
            </a:r>
          </a:p>
          <a:p>
            <a:pPr algn="l">
              <a:lnSpc>
                <a:spcPts val="3186"/>
              </a:lnSpc>
            </a:pPr>
            <a:endParaRPr lang="en-US" sz="2276">
              <a:solidFill>
                <a:srgbClr val="1E293B"/>
              </a:solidFill>
              <a:latin typeface="Open Sans"/>
              <a:ea typeface="Open Sans"/>
              <a:cs typeface="Open Sans"/>
              <a:sym typeface="Open Sans"/>
            </a:endParaRPr>
          </a:p>
        </p:txBody>
      </p:sp>
      <p:pic>
        <p:nvPicPr>
          <p:cNvPr id="10" name="Picture 9">
            <a:extLst>
              <a:ext uri="{FF2B5EF4-FFF2-40B4-BE49-F238E27FC236}">
                <a16:creationId xmlns:a16="http://schemas.microsoft.com/office/drawing/2014/main" id="{ACCFC108-E10C-3835-370F-461846DA1001}"/>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7086600" y="3841603"/>
            <a:ext cx="10972800" cy="63645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74751" y="1080396"/>
            <a:ext cx="6386855"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1028700" y="2226019"/>
            <a:ext cx="17259300"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Problem Areas of Existing System</a:t>
            </a:r>
          </a:p>
        </p:txBody>
      </p:sp>
      <p:sp>
        <p:nvSpPr>
          <p:cNvPr id="8" name="TextBox 8"/>
          <p:cNvSpPr txBox="1"/>
          <p:nvPr/>
        </p:nvSpPr>
        <p:spPr>
          <a:xfrm>
            <a:off x="1734931" y="3933097"/>
            <a:ext cx="10545182" cy="6008873"/>
          </a:xfrm>
          <a:prstGeom prst="rect">
            <a:avLst/>
          </a:prstGeom>
        </p:spPr>
        <p:txBody>
          <a:bodyPr lIns="0" tIns="0" rIns="0" bIns="0" rtlCol="0" anchor="t">
            <a:spAutoFit/>
          </a:bodyPr>
          <a:lstStyle/>
          <a:p>
            <a:pPr algn="l">
              <a:lnSpc>
                <a:spcPts val="4816"/>
              </a:lnSpc>
            </a:pPr>
            <a:r>
              <a:rPr lang="en-US" sz="3440">
                <a:solidFill>
                  <a:srgbClr val="1E293B"/>
                </a:solidFill>
                <a:latin typeface="Open Sans"/>
                <a:ea typeface="Open Sans"/>
                <a:cs typeface="Open Sans"/>
                <a:sym typeface="Open Sans"/>
              </a:rPr>
              <a:t>The existing approach has several limitations.</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Users forget renewal dates.</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Money is wasted on unused subscriptions.</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No automatic reminders.</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No centralized management.</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Expense calculation is manual.</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Difficult to compare monthly and yearly spending.</a:t>
            </a:r>
          </a:p>
          <a:p>
            <a:pPr marL="742774" lvl="1" indent="-371387" algn="l">
              <a:lnSpc>
                <a:spcPts val="4816"/>
              </a:lnSpc>
              <a:buFont typeface="Arial"/>
              <a:buChar char="•"/>
            </a:pPr>
            <a:r>
              <a:rPr lang="en-US" sz="3440">
                <a:solidFill>
                  <a:srgbClr val="1E293B"/>
                </a:solidFill>
                <a:latin typeface="Open Sans"/>
                <a:ea typeface="Open Sans"/>
                <a:cs typeface="Open Sans"/>
                <a:sym typeface="Open Sans"/>
              </a:rPr>
              <a:t>No secure storage for subscription details.</a:t>
            </a:r>
          </a:p>
          <a:p>
            <a:pPr algn="l">
              <a:lnSpc>
                <a:spcPts val="4816"/>
              </a:lnSpc>
            </a:pPr>
            <a:endParaRPr lang="en-US" sz="3440">
              <a:solidFill>
                <a:srgbClr val="1E293B"/>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55701" y="1080396"/>
            <a:ext cx="6446376"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1875708" y="2122164"/>
            <a:ext cx="13630007"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Need for the New System</a:t>
            </a:r>
          </a:p>
        </p:txBody>
      </p:sp>
      <p:sp>
        <p:nvSpPr>
          <p:cNvPr id="8" name="TextBox 8"/>
          <p:cNvSpPr txBox="1"/>
          <p:nvPr/>
        </p:nvSpPr>
        <p:spPr>
          <a:xfrm>
            <a:off x="2099710" y="3726810"/>
            <a:ext cx="9549683" cy="6054964"/>
          </a:xfrm>
          <a:prstGeom prst="rect">
            <a:avLst/>
          </a:prstGeom>
        </p:spPr>
        <p:txBody>
          <a:bodyPr lIns="0" tIns="0" rIns="0" bIns="0" rtlCol="0" anchor="t">
            <a:spAutoFit/>
          </a:bodyPr>
          <a:lstStyle/>
          <a:p>
            <a:pPr algn="l">
              <a:lnSpc>
                <a:spcPts val="4361"/>
              </a:lnSpc>
            </a:pPr>
            <a:r>
              <a:rPr lang="en-US" sz="3115" b="1">
                <a:solidFill>
                  <a:srgbClr val="1E293B"/>
                </a:solidFill>
                <a:latin typeface="Open Sans Bold"/>
                <a:ea typeface="Open Sans Bold"/>
                <a:cs typeface="Open Sans Bold"/>
                <a:sym typeface="Open Sans Bold"/>
              </a:rPr>
              <a:t>User Authentication</a:t>
            </a:r>
          </a:p>
          <a:p>
            <a:pPr algn="l">
              <a:lnSpc>
                <a:spcPts val="4361"/>
              </a:lnSpc>
            </a:pPr>
            <a:r>
              <a:rPr lang="en-US" sz="3115">
                <a:solidFill>
                  <a:srgbClr val="1E293B"/>
                </a:solidFill>
                <a:latin typeface="Open Sans"/>
                <a:ea typeface="Open Sans"/>
                <a:cs typeface="Open Sans"/>
                <a:sym typeface="Open Sans"/>
              </a:rPr>
              <a:t>Only registered users can access their subscription information.</a:t>
            </a:r>
          </a:p>
          <a:p>
            <a:pPr algn="l">
              <a:lnSpc>
                <a:spcPts val="4361"/>
              </a:lnSpc>
            </a:pPr>
            <a:endParaRPr lang="en-US" sz="3115">
              <a:solidFill>
                <a:srgbClr val="1E293B"/>
              </a:solidFill>
              <a:latin typeface="Open Sans"/>
              <a:ea typeface="Open Sans"/>
              <a:cs typeface="Open Sans"/>
              <a:sym typeface="Open Sans"/>
            </a:endParaRPr>
          </a:p>
          <a:p>
            <a:pPr algn="l">
              <a:lnSpc>
                <a:spcPts val="4361"/>
              </a:lnSpc>
            </a:pPr>
            <a:r>
              <a:rPr lang="en-US" sz="3115" b="1">
                <a:solidFill>
                  <a:srgbClr val="1E293B"/>
                </a:solidFill>
                <a:latin typeface="Open Sans Bold"/>
                <a:ea typeface="Open Sans Bold"/>
                <a:cs typeface="Open Sans Bold"/>
                <a:sym typeface="Open Sans Bold"/>
              </a:rPr>
              <a:t>Subscription Management</a:t>
            </a:r>
          </a:p>
          <a:p>
            <a:pPr algn="l">
              <a:lnSpc>
                <a:spcPts val="4361"/>
              </a:lnSpc>
            </a:pPr>
            <a:r>
              <a:rPr lang="en-US" sz="3115" b="1">
                <a:solidFill>
                  <a:srgbClr val="1E293B"/>
                </a:solidFill>
                <a:latin typeface="Open Sans Bold"/>
                <a:ea typeface="Open Sans Bold"/>
                <a:cs typeface="Open Sans Bold"/>
                <a:sym typeface="Open Sans Bold"/>
              </a:rPr>
              <a:t>   </a:t>
            </a:r>
            <a:r>
              <a:rPr lang="en-US" sz="3115">
                <a:solidFill>
                  <a:srgbClr val="1E293B"/>
                </a:solidFill>
                <a:latin typeface="Open Sans"/>
                <a:ea typeface="Open Sans"/>
                <a:cs typeface="Open Sans"/>
                <a:sym typeface="Open Sans"/>
              </a:rPr>
              <a:t>Users can:</a:t>
            </a:r>
          </a:p>
          <a:p>
            <a:pPr marL="672654" lvl="1" indent="-336327" algn="l">
              <a:lnSpc>
                <a:spcPts val="4361"/>
              </a:lnSpc>
              <a:buFont typeface="Arial"/>
              <a:buChar char="•"/>
            </a:pPr>
            <a:r>
              <a:rPr lang="en-US" sz="3115">
                <a:solidFill>
                  <a:srgbClr val="1E293B"/>
                </a:solidFill>
                <a:latin typeface="Open Sans"/>
                <a:ea typeface="Open Sans"/>
                <a:cs typeface="Open Sans"/>
                <a:sym typeface="Open Sans"/>
              </a:rPr>
              <a:t>Add subscriptions</a:t>
            </a:r>
          </a:p>
          <a:p>
            <a:pPr marL="672654" lvl="1" indent="-336327" algn="l">
              <a:lnSpc>
                <a:spcPts val="4361"/>
              </a:lnSpc>
              <a:buFont typeface="Arial"/>
              <a:buChar char="•"/>
            </a:pPr>
            <a:r>
              <a:rPr lang="en-US" sz="3115">
                <a:solidFill>
                  <a:srgbClr val="1E293B"/>
                </a:solidFill>
                <a:latin typeface="Open Sans"/>
                <a:ea typeface="Open Sans"/>
                <a:cs typeface="Open Sans"/>
                <a:sym typeface="Open Sans"/>
              </a:rPr>
              <a:t>Edit subscriptions</a:t>
            </a:r>
          </a:p>
          <a:p>
            <a:pPr marL="672654" lvl="1" indent="-336327" algn="l">
              <a:lnSpc>
                <a:spcPts val="4361"/>
              </a:lnSpc>
              <a:buFont typeface="Arial"/>
              <a:buChar char="•"/>
            </a:pPr>
            <a:r>
              <a:rPr lang="en-US" sz="3115">
                <a:solidFill>
                  <a:srgbClr val="1E293B"/>
                </a:solidFill>
                <a:latin typeface="Open Sans"/>
                <a:ea typeface="Open Sans"/>
                <a:cs typeface="Open Sans"/>
                <a:sym typeface="Open Sans"/>
              </a:rPr>
              <a:t>Delete subscriptions</a:t>
            </a:r>
          </a:p>
          <a:p>
            <a:pPr marL="672654" lvl="1" indent="-336327" algn="l">
              <a:lnSpc>
                <a:spcPts val="4361"/>
              </a:lnSpc>
              <a:buFont typeface="Arial"/>
              <a:buChar char="•"/>
            </a:pPr>
            <a:r>
              <a:rPr lang="en-US" sz="3115">
                <a:solidFill>
                  <a:srgbClr val="1E293B"/>
                </a:solidFill>
                <a:latin typeface="Open Sans"/>
                <a:ea typeface="Open Sans"/>
                <a:cs typeface="Open Sans"/>
                <a:sym typeface="Open Sans"/>
              </a:rPr>
              <a:t>View subscription details</a:t>
            </a:r>
          </a:p>
          <a:p>
            <a:pPr algn="l">
              <a:lnSpc>
                <a:spcPts val="4361"/>
              </a:lnSpc>
            </a:pPr>
            <a:endParaRPr lang="en-US" sz="3115">
              <a:solidFill>
                <a:srgbClr val="1E293B"/>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55701" y="1080396"/>
            <a:ext cx="6758865"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2255701" y="2231378"/>
            <a:ext cx="8977822" cy="7698003"/>
          </a:xfrm>
          <a:prstGeom prst="rect">
            <a:avLst/>
          </a:prstGeom>
        </p:spPr>
        <p:txBody>
          <a:bodyPr lIns="0" tIns="0" rIns="0" bIns="0" rtlCol="0" anchor="t">
            <a:spAutoFit/>
          </a:bodyPr>
          <a:lstStyle/>
          <a:p>
            <a:pPr algn="l">
              <a:lnSpc>
                <a:spcPts val="4100"/>
              </a:lnSpc>
            </a:pPr>
            <a:r>
              <a:rPr lang="en-US" sz="2929" b="1">
                <a:solidFill>
                  <a:srgbClr val="1E293B"/>
                </a:solidFill>
                <a:latin typeface="Open Sans Bold"/>
                <a:ea typeface="Open Sans Bold"/>
                <a:cs typeface="Open Sans Bold"/>
                <a:sym typeface="Open Sans Bold"/>
              </a:rPr>
              <a:t>Dashboard</a:t>
            </a:r>
          </a:p>
          <a:p>
            <a:pPr algn="l">
              <a:lnSpc>
                <a:spcPts val="4100"/>
              </a:lnSpc>
            </a:pPr>
            <a:r>
              <a:rPr lang="en-US" sz="2929">
                <a:solidFill>
                  <a:srgbClr val="1E293B"/>
                </a:solidFill>
                <a:latin typeface="Open Sans"/>
                <a:ea typeface="Open Sans"/>
                <a:cs typeface="Open Sans"/>
                <a:sym typeface="Open Sans"/>
              </a:rPr>
              <a:t>The dashboard displays:</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Total monthly spending</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Total yearly spending</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Upcoming renewals</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Subscription summary</a:t>
            </a:r>
          </a:p>
          <a:p>
            <a:pPr algn="l">
              <a:lnSpc>
                <a:spcPts val="4100"/>
              </a:lnSpc>
            </a:pPr>
            <a:endParaRPr lang="en-US" sz="2929">
              <a:solidFill>
                <a:srgbClr val="1E293B"/>
              </a:solidFill>
              <a:latin typeface="Open Sans"/>
              <a:ea typeface="Open Sans"/>
              <a:cs typeface="Open Sans"/>
              <a:sym typeface="Open Sans"/>
            </a:endParaRPr>
          </a:p>
          <a:p>
            <a:pPr algn="l">
              <a:lnSpc>
                <a:spcPts val="4100"/>
              </a:lnSpc>
            </a:pPr>
            <a:r>
              <a:rPr lang="en-US" sz="2929" b="1">
                <a:solidFill>
                  <a:srgbClr val="1E293B"/>
                </a:solidFill>
                <a:latin typeface="Open Sans Bold"/>
                <a:ea typeface="Open Sans Bold"/>
                <a:cs typeface="Open Sans Bold"/>
                <a:sym typeface="Open Sans Bold"/>
              </a:rPr>
              <a:t>Additional Benefits</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Saves money</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Saves time</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Improves financial planning</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Better user experience</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Easy to manage multiple subscriptions</a:t>
            </a:r>
          </a:p>
          <a:p>
            <a:pPr marL="632374" lvl="1" indent="-316187" algn="l">
              <a:lnSpc>
                <a:spcPts val="4100"/>
              </a:lnSpc>
              <a:buFont typeface="Arial"/>
              <a:buChar char="•"/>
            </a:pPr>
            <a:r>
              <a:rPr lang="en-US" sz="2929">
                <a:solidFill>
                  <a:srgbClr val="1E293B"/>
                </a:solidFill>
                <a:latin typeface="Open Sans"/>
                <a:ea typeface="Open Sans"/>
                <a:cs typeface="Open Sans"/>
                <a:sym typeface="Open Sans"/>
              </a:rPr>
              <a:t>Secure database storage</a:t>
            </a:r>
          </a:p>
          <a:p>
            <a:pPr algn="l">
              <a:lnSpc>
                <a:spcPts val="4100"/>
              </a:lnSpc>
            </a:pPr>
            <a:endParaRPr lang="en-US" sz="2929">
              <a:solidFill>
                <a:srgbClr val="1E293B"/>
              </a:solidFill>
              <a:latin typeface="Open Sans"/>
              <a:ea typeface="Open Sans"/>
              <a:cs typeface="Open Sans"/>
              <a:sym typeface="Open Sans"/>
            </a:endParaRPr>
          </a:p>
        </p:txBody>
      </p:sp>
      <p:pic>
        <p:nvPicPr>
          <p:cNvPr id="9" name="Picture 8">
            <a:extLst>
              <a:ext uri="{FF2B5EF4-FFF2-40B4-BE49-F238E27FC236}">
                <a16:creationId xmlns:a16="http://schemas.microsoft.com/office/drawing/2014/main" id="{D9E72AB1-8FE1-27EE-26B4-29938BC56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190500"/>
            <a:ext cx="10407608" cy="78651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TextBox 6"/>
          <p:cNvSpPr txBox="1"/>
          <p:nvPr/>
        </p:nvSpPr>
        <p:spPr>
          <a:xfrm>
            <a:off x="2255701" y="1080396"/>
            <a:ext cx="5568433"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
        <p:nvSpPr>
          <p:cNvPr id="7" name="TextBox 7"/>
          <p:cNvSpPr txBox="1"/>
          <p:nvPr/>
        </p:nvSpPr>
        <p:spPr>
          <a:xfrm>
            <a:off x="1028700" y="2226019"/>
            <a:ext cx="11502111"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System Flow Diagram</a:t>
            </a:r>
          </a:p>
        </p:txBody>
      </p:sp>
      <p:sp>
        <p:nvSpPr>
          <p:cNvPr id="8" name="TextBox 8"/>
          <p:cNvSpPr txBox="1"/>
          <p:nvPr/>
        </p:nvSpPr>
        <p:spPr>
          <a:xfrm>
            <a:off x="1683297" y="3563893"/>
            <a:ext cx="4012799" cy="6429337"/>
          </a:xfrm>
          <a:prstGeom prst="rect">
            <a:avLst/>
          </a:prstGeom>
        </p:spPr>
        <p:txBody>
          <a:bodyPr lIns="0" tIns="0" rIns="0" bIns="0" rtlCol="0" anchor="t">
            <a:spAutoFit/>
          </a:bodyPr>
          <a:lstStyle/>
          <a:p>
            <a:pPr algn="l">
              <a:lnSpc>
                <a:spcPts val="1832"/>
              </a:lnSpc>
            </a:pPr>
            <a:r>
              <a:rPr lang="en-US" sz="1309">
                <a:solidFill>
                  <a:srgbClr val="1E293B"/>
                </a:solidFill>
                <a:latin typeface="Open Sans"/>
                <a:ea typeface="Open Sans"/>
                <a:cs typeface="Open Sans"/>
                <a:sym typeface="Open Sans"/>
              </a:rPr>
              <a:t>                 Start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User Registration/Login</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User Dashboard</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Add Subscription Details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Validate User Input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Save Data into Database</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Calculate Monthly/Yearly Cost</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Display Dashboard Analytics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Upcoming Renewal Reminders</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a:t>
            </a:r>
          </a:p>
          <a:p>
            <a:pPr algn="l">
              <a:lnSpc>
                <a:spcPts val="1832"/>
              </a:lnSpc>
            </a:pPr>
            <a:r>
              <a:rPr lang="en-US" sz="1309">
                <a:solidFill>
                  <a:srgbClr val="1E293B"/>
                </a:solidFill>
                <a:latin typeface="Open Sans"/>
                <a:ea typeface="Open Sans"/>
                <a:cs typeface="Open Sans"/>
                <a:sym typeface="Open Sans"/>
              </a:rPr>
              <a:t>                  End</a:t>
            </a:r>
          </a:p>
        </p:txBody>
      </p:sp>
      <p:sp>
        <p:nvSpPr>
          <p:cNvPr id="9" name="TextBox 9"/>
          <p:cNvSpPr txBox="1"/>
          <p:nvPr/>
        </p:nvSpPr>
        <p:spPr>
          <a:xfrm>
            <a:off x="5918494" y="3795892"/>
            <a:ext cx="12110986" cy="3064872"/>
          </a:xfrm>
          <a:prstGeom prst="rect">
            <a:avLst/>
          </a:prstGeom>
        </p:spPr>
        <p:txBody>
          <a:bodyPr lIns="0" tIns="0" rIns="0" bIns="0" rtlCol="0" anchor="t">
            <a:spAutoFit/>
          </a:bodyPr>
          <a:lstStyle/>
          <a:p>
            <a:pPr algn="l">
              <a:lnSpc>
                <a:spcPts val="3056"/>
              </a:lnSpc>
            </a:pPr>
            <a:r>
              <a:rPr lang="en-US" sz="2183" b="1">
                <a:solidFill>
                  <a:srgbClr val="1E293B"/>
                </a:solidFill>
                <a:latin typeface="Canva Sans Bold"/>
                <a:ea typeface="Canva Sans Bold"/>
                <a:cs typeface="Canva Sans Bold"/>
                <a:sym typeface="Canva Sans Bold"/>
              </a:rPr>
              <a:t>Working Process</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User logs into the application.</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The user adds subscription information (service name, cost, billing cycle, renewal date).</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The system stores the information in the database.</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The backend calculates monthly and yearly expenses.</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The dashboard displays analytics and upcoming renewal dates.</a:t>
            </a:r>
          </a:p>
          <a:p>
            <a:pPr marL="471373" lvl="1" indent="-235687" algn="l">
              <a:lnSpc>
                <a:spcPts val="3056"/>
              </a:lnSpc>
              <a:buAutoNum type="arabicPeriod"/>
            </a:pPr>
            <a:r>
              <a:rPr lang="en-US" sz="2183">
                <a:solidFill>
                  <a:srgbClr val="1E293B"/>
                </a:solidFill>
                <a:latin typeface="Canva Sans"/>
                <a:ea typeface="Canva Sans"/>
                <a:cs typeface="Canva Sans"/>
                <a:sym typeface="Canva Sans"/>
              </a:rPr>
              <a:t>The user can update or delete subscriptions whenever needed.</a:t>
            </a:r>
          </a:p>
          <a:p>
            <a:pPr algn="l">
              <a:lnSpc>
                <a:spcPts val="3056"/>
              </a:lnSpc>
            </a:pPr>
            <a:endParaRPr lang="en-US" sz="2183">
              <a:solidFill>
                <a:srgbClr val="1E293B"/>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n-IN"/>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AutoShape 6"/>
          <p:cNvSpPr/>
          <p:nvPr/>
        </p:nvSpPr>
        <p:spPr>
          <a:xfrm>
            <a:off x="1257501" y="8066575"/>
            <a:ext cx="0" cy="867546"/>
          </a:xfrm>
          <a:prstGeom prst="line">
            <a:avLst/>
          </a:prstGeom>
          <a:ln w="57150" cap="rnd">
            <a:solidFill>
              <a:srgbClr val="60A5FA"/>
            </a:solidFill>
            <a:prstDash val="solid"/>
            <a:headEnd type="none" w="sm" len="sm"/>
            <a:tailEnd type="none" w="sm" len="sm"/>
          </a:ln>
        </p:spPr>
        <p:txBody>
          <a:bodyPr/>
          <a:lstStyle/>
          <a:p>
            <a:endParaRPr lang="en-IN"/>
          </a:p>
        </p:txBody>
      </p:sp>
      <p:grpSp>
        <p:nvGrpSpPr>
          <p:cNvPr id="7" name="Group 7"/>
          <p:cNvGrpSpPr/>
          <p:nvPr/>
        </p:nvGrpSpPr>
        <p:grpSpPr>
          <a:xfrm>
            <a:off x="10191726" y="1580598"/>
            <a:ext cx="7244181" cy="724418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10319354" y="-4277500"/>
            <a:ext cx="7116554" cy="711655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txBody>
            <a:bodyPr/>
            <a:lstStyle/>
            <a:p>
              <a:endParaRPr lang="en-IN"/>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10191726" y="6977077"/>
            <a:ext cx="7244181" cy="724418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txBody>
            <a:bodyPr/>
            <a:lstStyle/>
            <a:p>
              <a:endParaRPr lang="en-IN"/>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1028700" y="3055194"/>
            <a:ext cx="953768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Thank</a:t>
            </a:r>
          </a:p>
        </p:txBody>
      </p:sp>
      <p:sp>
        <p:nvSpPr>
          <p:cNvPr id="17" name="TextBox 17"/>
          <p:cNvSpPr txBox="1"/>
          <p:nvPr/>
        </p:nvSpPr>
        <p:spPr>
          <a:xfrm>
            <a:off x="1028700" y="4450251"/>
            <a:ext cx="764062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You</a:t>
            </a:r>
          </a:p>
        </p:txBody>
      </p:sp>
      <p:sp>
        <p:nvSpPr>
          <p:cNvPr id="18" name="TextBox 18"/>
          <p:cNvSpPr txBox="1"/>
          <p:nvPr/>
        </p:nvSpPr>
        <p:spPr>
          <a:xfrm>
            <a:off x="2255701" y="1080396"/>
            <a:ext cx="6476137"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Subscription Tracking Application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540</Words>
  <Application>Microsoft Office PowerPoint</Application>
  <PresentationFormat>Custom</PresentationFormat>
  <Paragraphs>130</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Poppins Semi-Bold</vt:lpstr>
      <vt:lpstr>Open Sans Bold</vt:lpstr>
      <vt:lpstr>Calibri</vt:lpstr>
      <vt:lpstr>Arial</vt:lpstr>
      <vt:lpstr>Canva Sans</vt:lpstr>
      <vt:lpstr>Canva Sans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ollah</dc:title>
  <cp:lastModifiedBy>Ankit Aryan</cp:lastModifiedBy>
  <cp:revision>6</cp:revision>
  <dcterms:created xsi:type="dcterms:W3CDTF">2006-08-16T00:00:00Z</dcterms:created>
  <dcterms:modified xsi:type="dcterms:W3CDTF">2026-08-08T06:34:25Z</dcterms:modified>
  <dc:identifier>DAHRnO8qVow</dc:identifier>
</cp:coreProperties>
</file>